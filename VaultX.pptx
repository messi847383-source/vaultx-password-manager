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3"/>
    <p:sldId id="258" r:id="rId4"/>
    <p:sldId id="259" r:id="rId5"/>
    <p:sldId id="260" r:id="rId6"/>
    <p:sldId id="261" r:id="rId7"/>
    <p:sldId id="262" r:id="rId8"/>
    <p:sldId id="264" r:id="rId10"/>
    <p:sldId id="266" r:id="rId12"/>
    <p:sldId id="267" r:id="rId13"/>
    <p:sldId id="268" r:id="rId14"/>
    <p:sldId id="269" r:id="rId15"/>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d first (delete)" id="{c8839768-7471-1eaa-6d47-95ea733f6614}">
          <p14:sldIdLst>
            <p14:sldId id="256"/>
          </p14:sldIdLst>
        </p14:section>
        <p14:section name="Introduction" id="{9cdb1d2e-3c33-7909-5d50-9802a6829d50}">
          <p14:sldIdLst>
            <p14:sldId id="257"/>
            <p14:sldId id="258"/>
            <p14:sldId id="259"/>
          </p14:sldIdLst>
        </p14:section>
        <p14:section name="Design" id="{d0d28d76-11de-40d3-f0b6-cb4c18d8b8df}">
          <p14:sldIdLst>
            <p14:sldId id="260"/>
            <p14:sldId id="261"/>
            <p14:sldId id="262"/>
            <p14:sldId id="263"/>
            <p14:sldId id="264"/>
            <p14:sldId id="265"/>
          </p14:sldIdLst>
        </p14:section>
        <p14:section name="Implementation" id="{348dfb9d-78c9-074f-d8cb-aba694959fde}">
          <p14:sldIdLst>
            <p14:sldId id="266"/>
            <p14:sldId id="267"/>
          </p14:sldIdLst>
        </p14:section>
        <p14:section name="Demonstration and results" id="{0f6c9df0-8b39-7142-769c-f2ee2d3581a8}">
          <p14:sldIdLst>
            <p14:sldId id="268"/>
            <p14:sldId id="269"/>
            <p14:sldId id="270"/>
          </p14:sldIdLst>
        </p14:section>
        <p14:section name="Wrap-up" id="{04dcf6f8-7247-4de7-32a4-7f0c263ec1d4}">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VaultX Password Manager, Ronak Singh, Programming with Python (BTCS2101).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motivation without fabricated statistics. Emphasise password reuse and unprotected notes as the design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scope: local single-user application; cloud sync, multi-user accounts and formal security audit are excluded.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shown are from terminal evidence where available; verify Python and package versions before final submission.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browser → Flask routes → validation/security logic → SQLite → dashboard workflow.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Features listed are documented in the project report. Confirm each in the actual app during the live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Image is a repository screenshot, not the app UI. If you have time, replace it with a browser screenshot of the real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each concept and point to its actual location in app.py/templates during viva.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a conceptual security workflow, not a verbatim source-code excerpt. If faculty requires code, paste exact lines from app.py.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login, add a fictional record, search, reveal/copy, edit/delete and password generation. Do not use real passwords.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Terminal evidence shows Flask starts locally and HTTP GET requests return 200. Do not claim an exact test pass count.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the actual setup and security considerations. Do not claim independent audit or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Summarise documented features and clearly state that formal security testing was not performed.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for the technologies used; cite any additional tutorials or code adapted.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and invite questions. Repository URL shown from the supplied GitHub screenshot.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411480"/>
            <a:ext cx="2743200" cy="1051560"/>
          </a:xfrm>
          <a:prstGeom prst="roundRect">
            <a:avLst>
              <a:gd name="adj" fmla="val 10435"/>
            </a:avLst>
          </a:prstGeom>
          <a:solidFill>
            <a:schemeClr val="bg1"/>
          </a:solidFill>
          <a:ln/>
        </p:spPr>
        <p:txBody>
          <a:bodyPr wrap="square" rtlCol="0" anchor="ctr"/>
          <a:lstStyle/>
          <a:p>
            <a:pPr indent="0" marL="0">
              <a:buNone/>
            </a:pPr>
            <a:endParaRPr lang="en-US" dirty="0"/>
          </a:p>
        </p:txBody>
      </p:sp>
      <p:pic>
        <p:nvPicPr>
          <p:cNvPr id="3" name="Image 0" descr="Assam down town University logo">    </p:cNvPr>
          <p:cNvPicPr>
            <a:picLocks noChangeAspect="1"/>
          </p:cNvPicPr>
          <p:nvPr/>
        </p:nvPicPr>
        <p:blipFill>
          <a:blip r:embed="rId1"/>
          <a:stretch>
            <a:fillRect/>
          </a:stretch>
        </p:blipFill>
        <p:spPr>
          <a:xfrm>
            <a:off x="685800" y="477095"/>
            <a:ext cx="2468880" cy="920331"/>
          </a:xfrm>
          <a:prstGeom prst="rect">
            <a:avLst/>
          </a:prstGeom>
        </p:spPr>
      </p:pic>
      <p:sp>
        <p:nvSpPr>
          <p:cNvPr id="4" name="Text 1"/>
          <p:cNvSpPr/>
          <p:nvPr/>
        </p:nvSpPr>
        <p:spPr>
          <a:xfrm>
            <a:off x="6035040" y="566928"/>
            <a:ext cx="5608015" cy="731520"/>
          </a:xfrm>
          <a:prstGeom prst="rect">
            <a:avLst/>
          </a:prstGeom>
          <a:noFill/>
          <a:ln/>
        </p:spPr>
        <p:txBody>
          <a:bodyPr wrap="square" lIns="0" tIns="0" rIns="0" bIns="0" rtlCol="0" anchor="ctr"/>
          <a:lstStyle/>
          <a:p>
            <a:pPr algn="r" indent="0" marL="0">
              <a:buNone/>
            </a:pPr>
            <a:r>
              <a:rPr lang="en-US" sz="1400" dirty="0">
                <a:solidFill>
                  <a:schemeClr val="accent3"/>
                </a:solidFill>
              </a:rPr>
              <a:t>Faculty of Computer Technology</a:t>
            </a:r>
            <a:endParaRPr lang="en-US" sz="1400" dirty="0"/>
          </a:p>
          <a:p>
            <a:pPr algn="r" indent="0" marL="0">
              <a:buNone/>
            </a:pPr>
            <a:r>
              <a:rPr lang="en-US" sz="1400" dirty="0">
                <a:solidFill>
                  <a:schemeClr val="accent3"/>
                </a:solidFill>
              </a:rPr>
              <a:t>Programme of Computer Science &amp; Engineering</a:t>
            </a:r>
            <a:endParaRPr lang="en-US" sz="1400" dirty="0"/>
          </a:p>
        </p:txBody>
      </p:sp>
      <p:sp>
        <p:nvSpPr>
          <p:cNvPr id="5" name="Text 2"/>
          <p:cNvSpPr/>
          <p:nvPr>
            <p:ph idx="103" type="title" hasCustomPrompt="1"/>
          </p:nvPr>
        </p:nvSpPr>
        <p:spPr>
          <a:xfrm>
            <a:off x="548640" y="2240280"/>
            <a:ext cx="11094415" cy="14173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6" name="Text 2"/>
          <p:cNvSpPr/>
          <p:nvPr>
            <p:ph idx="104" type="body" hasCustomPrompt="1"/>
          </p:nvPr>
        </p:nvSpPr>
        <p:spPr>
          <a:xfrm>
            <a:off x="548640" y="3703320"/>
            <a:ext cx="11094415" cy="54864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3" name="Image 0" descr="Assam down town University logo">    </p:cNvPr>
          <p:cNvPicPr>
            <a:picLocks noChangeAspect="1"/>
          </p:cNvPicPr>
          <p:nvPr/>
        </p:nvPicPr>
        <p:blipFill>
          <a:blip r:embed="rId1"/>
          <a:stretch>
            <a:fillRect/>
          </a:stretch>
        </p:blipFill>
        <p:spPr>
          <a:xfrm>
            <a:off x="10180015" y="384048"/>
            <a:ext cx="1463040" cy="545381"/>
          </a:xfrm>
          <a:prstGeom prst="rect">
            <a:avLst/>
          </a:prstGeom>
        </p:spPr>
      </p:pic>
      <p:sp>
        <p:nvSpPr>
          <p:cNvPr id="4"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6"/>
                </a:solidFill>
              </a:rPr>
              <a:t>Programming with Python (BTCS2101) · Mini Project</a:t>
            </a:r>
            <a:endParaRPr lang="en-US" sz="11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tex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3" name="Image 0" descr="Assam down town University logo">    </p:cNvPr>
          <p:cNvPicPr>
            <a:picLocks noChangeAspect="1"/>
          </p:cNvPicPr>
          <p:nvPr/>
        </p:nvPicPr>
        <p:blipFill>
          <a:blip r:embed="rId1"/>
          <a:stretch>
            <a:fillRect/>
          </a:stretch>
        </p:blipFill>
        <p:spPr>
          <a:xfrm>
            <a:off x="10180015" y="384048"/>
            <a:ext cx="1463040" cy="545381"/>
          </a:xfrm>
          <a:prstGeom prst="rect">
            <a:avLst/>
          </a:prstGeom>
        </p:spPr>
      </p:pic>
      <p:sp>
        <p:nvSpPr>
          <p:cNvPr id="4"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6"/>
                </a:solidFill>
              </a:rPr>
              <a:t>Programming with Python (BTCS2101) · Mini Project</a:t>
            </a:r>
            <a:endParaRPr lang="en-US" sz="1100" dirty="0"/>
          </a:p>
        </p:txBody>
      </p:sp>
      <p:sp>
        <p:nvSpPr>
          <p:cNvPr id="5" name="Text 1"/>
          <p:cNvSpPr/>
          <p:nvPr>
            <p:ph idx="103" type="body" hasCustomPrompt="1"/>
          </p:nvPr>
        </p:nvSpPr>
        <p:spPr>
          <a:xfrm>
            <a:off x="548640" y="1463040"/>
            <a:ext cx="11094415" cy="466344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411480"/>
            <a:ext cx="2743200" cy="1051560"/>
          </a:xfrm>
          <a:prstGeom prst="roundRect">
            <a:avLst>
              <a:gd name="adj" fmla="val 10435"/>
            </a:avLst>
          </a:prstGeom>
          <a:solidFill>
            <a:schemeClr val="bg1"/>
          </a:solidFill>
          <a:ln/>
        </p:spPr>
        <p:txBody>
          <a:bodyPr wrap="square" rtlCol="0" anchor="ctr"/>
          <a:lstStyle/>
          <a:p>
            <a:pPr indent="0" marL="0">
              <a:buNone/>
            </a:pPr>
            <a:endParaRPr lang="en-US" dirty="0"/>
          </a:p>
        </p:txBody>
      </p:sp>
      <p:pic>
        <p:nvPicPr>
          <p:cNvPr id="3" name="Image 0" descr="Assam down town University logo">    </p:cNvPr>
          <p:cNvPicPr>
            <a:picLocks noChangeAspect="1"/>
          </p:cNvPicPr>
          <p:nvPr/>
        </p:nvPicPr>
        <p:blipFill>
          <a:blip r:embed="rId1"/>
          <a:stretch>
            <a:fillRect/>
          </a:stretch>
        </p:blipFill>
        <p:spPr>
          <a:xfrm>
            <a:off x="685800" y="477095"/>
            <a:ext cx="2468880" cy="920331"/>
          </a:xfrm>
          <a:prstGeom prst="rect">
            <a:avLst/>
          </a:prstGeom>
        </p:spPr>
      </p:pic>
      <p:sp>
        <p:nvSpPr>
          <p:cNvPr id="4" name="Text 1"/>
          <p:cNvSpPr/>
          <p:nvPr>
            <p:ph idx="102" type="title" hasCustomPrompt="1"/>
          </p:nvPr>
        </p:nvSpPr>
        <p:spPr>
          <a:xfrm>
            <a:off x="548640" y="2011680"/>
            <a:ext cx="11094415" cy="118872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
        <p:nvSpPr>
          <p:cNvPr id="5" name="Text 1"/>
          <p:cNvSpPr/>
          <p:nvPr>
            <p:ph idx="103" type="body" hasCustomPrompt="1"/>
          </p:nvPr>
        </p:nvSpPr>
        <p:spPr>
          <a:xfrm>
            <a:off x="548640" y="3246120"/>
            <a:ext cx="11094415" cy="731520"/>
          </a:xfrm>
          <a:prstGeom prst="rect">
            <a:avLst/>
          </a:prstGeom>
          <a:noFill/>
          <a:ln/>
        </p:spPr>
        <p:txBody>
          <a:bodyPr wrap="square" rtlCol="0"/>
          <a:lstStyle>
            <a:lvl1pPr algn="ctr" indent="0" marL="0">
              <a:buNone/>
              <a:defRPr lang="en-US" sz="2800" dirty="0">
                <a:solidFill>
                  <a:schemeClr val="accent2"/>
                </a:solidFill>
              </a:defRPr>
            </a:lvl1pPr>
          </a:lstStyle>
          <a:p>
            <a:pPr algn="ct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ategory"/>
          <p:cNvSpPr txBox="1"/>
          <p:nvPr/>
        </p:nvSpPr>
        <p:spPr>
          <a:xfrm>
            <a:off x="548640" y="1783080"/>
            <a:ext cx="11094415" cy="365760"/>
          </a:xfrm>
          <a:prstGeom prst="rect">
            <a:avLst/>
          </a:prstGeom>
          <a:noFill/>
          <a:ln/>
        </p:spPr>
        <p:txBody>
          <a:bodyPr wrap="square" lIns="54864" tIns="27432" rIns="54864" bIns="27432" rtlCol="0" anchor="ctr"/>
          <a:lstStyle/>
          <a:p>
            <a:pPr indent="0" marL="0">
              <a:buNone/>
            </a:pPr>
            <a:r>
              <a:rPr sz="1600" b="0">
                <a:solidFill>
                  <a:srgbClr val="232737"/>
                </a:solidFill>
                <a:latin typeface="Aptos"/>
              </a:rPr>
              <a:t>STANDALONE WEB APPLICATION</a:t>
            </a:r>
            <a:endParaRPr lang="en-US" sz="1400" dirty="0"/>
          </a:p>
        </p:txBody>
      </p:sp>
      <p:sp>
        <p:nvSpPr>
          <p:cNvPr id="3" name="Text 2"/>
          <p:cNvSpPr/>
          <p:nvPr>
            <p:ph idx="103" type="title" hasCustomPrompt="1"/>
          </p:nvPr>
        </p:nvSpPr>
        <p:spPr>
          <a:xfrm>
            <a:off x="548640" y="2240280"/>
            <a:ext cx="11094415" cy="1417320"/>
          </a:xfrm>
          <a:prstGeom prst="rect">
            <a:avLst/>
          </a:prstGeom>
          <a:noFill/>
          <a:ln/>
        </p:spPr>
        <p:txBody>
          <a:bodyPr wrap="square" lIns="54864" tIns="27432" rIns="54864" bIns="27432" rtlCol="0" anchor="ctr"/>
          <a:lstStyle/>
          <a:p>
            <a:pPr algn="l" indent="0" marL="0">
              <a:buNone/>
            </a:pPr>
            <a:r>
              <a:rPr sz="1600" b="0">
                <a:solidFill>
                  <a:srgbClr val="232737"/>
                </a:solidFill>
                <a:latin typeface="Aptos"/>
              </a:rPr>
              <a:t>VaultX Password Manager</a:t>
            </a:r>
            <a:endParaRPr lang="en-US" sz="4400" dirty="0"/>
          </a:p>
        </p:txBody>
      </p:sp>
      <p:sp>
        <p:nvSpPr>
          <p:cNvPr id="4" name="Text 2"/>
          <p:cNvSpPr/>
          <p:nvPr>
            <p:ph idx="104" type="body" hasCustomPrompt="1"/>
          </p:nvPr>
        </p:nvSpPr>
        <p:spPr>
          <a:xfrm>
            <a:off x="548640" y="3703320"/>
            <a:ext cx="11094415" cy="548640"/>
          </a:xfrm>
          <a:prstGeom prst="rect">
            <a:avLst/>
          </a:prstGeom>
          <a:noFill/>
          <a:ln/>
        </p:spPr>
        <p:txBody>
          <a:bodyPr wrap="square" lIns="54864" tIns="27432" rIns="54864" bIns="27432" rtlCol="0" anchor="ctr"/>
          <a:lstStyle/>
          <a:p>
            <a:pPr algn="l" indent="0" marL="0">
              <a:buNone/>
            </a:pPr>
            <a:r>
              <a:rPr sz="1600" b="0">
                <a:solidFill>
                  <a:srgbClr val="232737"/>
                </a:solidFill>
                <a:latin typeface="Aptos"/>
              </a:rPr>
              <a:t>A local password vault for organising account credentials behind a master-password login.</a:t>
            </a:r>
            <a:endParaRPr lang="en-US" sz="2000" dirty="0"/>
          </a:p>
        </p:txBody>
      </p:sp>
      <p:sp>
        <p:nvSpPr>
          <p:cNvPr id="5" name="MEMBER 1 card"/>
          <p:cNvSpPr/>
          <p:nvPr/>
        </p:nvSpPr>
        <p:spPr>
          <a:xfrm>
            <a:off x="548640" y="4434840"/>
            <a:ext cx="3515258" cy="1463040"/>
          </a:xfrm>
          <a:prstGeom prst="roundRect">
            <a:avLst>
              <a:gd name="adj" fmla="val 7500"/>
            </a:avLst>
          </a:prstGeom>
          <a:solidFill>
            <a:schemeClr val="tx2"/>
          </a:solidFill>
          <a:ln/>
        </p:spPr>
        <p:txBody>
          <a:bodyPr/>
          <a:p/>
        </p:txBody>
      </p:sp>
      <p:sp>
        <p:nvSpPr>
          <p:cNvPr id="6" name="MEMBER 1 text"/>
          <p:cNvSpPr txBox="1"/>
          <p:nvPr/>
        </p:nvSpPr>
        <p:spPr>
          <a:xfrm>
            <a:off x="822960" y="4572000"/>
            <a:ext cx="3058058" cy="1234440"/>
          </a:xfrm>
          <a:prstGeom prst="rect">
            <a:avLst/>
          </a:prstGeom>
          <a:noFill/>
          <a:ln/>
        </p:spPr>
        <p:txBody>
          <a:bodyPr wrap="square" lIns="73152" tIns="36576" rIns="73152" bIns="36576" rtlCol="0" anchor="ctr"/>
          <a:lstStyle/>
          <a:p>
            <a:pPr indent="0" marL="0">
              <a:buNone/>
            </a:pPr>
            <a:r>
              <a:rPr sz="1500" b="0">
                <a:solidFill>
                  <a:srgbClr val="232737"/>
                </a:solidFill>
                <a:latin typeface="Aptos"/>
              </a:rPr>
              <a:t>MEMBER 1
Ronak Singh
Roll No. ADTU/1/2025-29/BTCS/039
Python logic, interface and testing</a:t>
            </a:r>
            <a:endParaRPr lang="en-US" sz="1600" dirty="0"/>
          </a:p>
        </p:txBody>
      </p:sp>
      <p:sp>
        <p:nvSpPr>
          <p:cNvPr id="7" name="MEMBER 2 (IF ANY) card"/>
          <p:cNvSpPr/>
          <p:nvPr/>
        </p:nvSpPr>
        <p:spPr>
          <a:xfrm>
            <a:off x="4338218" y="4434840"/>
            <a:ext cx="3515258" cy="1463040"/>
          </a:xfrm>
          <a:prstGeom prst="roundRect">
            <a:avLst>
              <a:gd name="adj" fmla="val 7500"/>
            </a:avLst>
          </a:prstGeom>
          <a:solidFill>
            <a:schemeClr val="tx2"/>
          </a:solidFill>
          <a:ln/>
        </p:spPr>
        <p:txBody>
          <a:bodyPr/>
          <a:p/>
        </p:txBody>
      </p:sp>
      <p:sp>
        <p:nvSpPr>
          <p:cNvPr id="8" name="MEMBER 2 (IF ANY) text"/>
          <p:cNvSpPr txBox="1"/>
          <p:nvPr/>
        </p:nvSpPr>
        <p:spPr>
          <a:xfrm>
            <a:off x="4612538" y="4572000"/>
            <a:ext cx="3058058" cy="1234440"/>
          </a:xfrm>
          <a:prstGeom prst="rect">
            <a:avLst/>
          </a:prstGeom>
          <a:noFill/>
          <a:ln/>
        </p:spPr>
        <p:txBody>
          <a:bodyPr wrap="square" lIns="73152" tIns="36576" rIns="73152" bIns="36576" rtlCol="0" anchor="ctr"/>
          <a:lstStyle/>
          <a:p>
            <a:pPr indent="0" marL="0">
              <a:buNone/>
            </a:pPr>
            <a:r>
              <a:rPr sz="1500" b="0">
                <a:solidFill>
                  <a:srgbClr val="232737"/>
                </a:solidFill>
                <a:latin typeface="Aptos"/>
              </a:rPr>
              <a:t>PROJECT AUTHOR
Roll No. ADTU/1/2025-29/BTCS/039
</a:t>
            </a:r>
            <a:endParaRPr lang="en-US" sz="1600" dirty="0"/>
          </a:p>
        </p:txBody>
      </p:sp>
      <p:sp>
        <p:nvSpPr>
          <p:cNvPr id="9" name="COURSE FACULTY card"/>
          <p:cNvSpPr/>
          <p:nvPr/>
        </p:nvSpPr>
        <p:spPr>
          <a:xfrm>
            <a:off x="8127797" y="4434840"/>
            <a:ext cx="3515258" cy="1463040"/>
          </a:xfrm>
          <a:prstGeom prst="roundRect">
            <a:avLst>
              <a:gd name="adj" fmla="val 7500"/>
            </a:avLst>
          </a:prstGeom>
          <a:solidFill>
            <a:schemeClr val="tx2"/>
          </a:solidFill>
          <a:ln/>
        </p:spPr>
        <p:txBody>
          <a:bodyPr/>
          <a:p/>
        </p:txBody>
      </p:sp>
      <p:sp>
        <p:nvSpPr>
          <p:cNvPr id="10" name="COURSE FACULTY text"/>
          <p:cNvSpPr txBox="1"/>
          <p:nvPr/>
        </p:nvSpPr>
        <p:spPr>
          <a:xfrm>
            <a:off x="8402117" y="4572000"/>
            <a:ext cx="3058058" cy="1234440"/>
          </a:xfrm>
          <a:prstGeom prst="rect">
            <a:avLst/>
          </a:prstGeom>
          <a:noFill/>
          <a:ln/>
        </p:spPr>
        <p:txBody>
          <a:bodyPr wrap="square" lIns="0" tIns="0" rIns="0" bIns="0" rtlCol="0" anchor="t"/>
          <a:lstStyle/>
          <a:p>
            <a:pPr indent="0" marL="0">
              <a:buNone/>
            </a:pPr>
            <a:r>
              <a:rPr lang="en-US" sz="1200" b="1" spc="100" kern="0" dirty="0">
                <a:solidFill>
                  <a:schemeClr val="accent2"/>
                </a:solidFill>
              </a:rPr>
              <a:t>COURSE FACULTY</a:t>
            </a:r>
            <a:endParaRPr lang="en-US" sz="1600" dirty="0"/>
          </a:p>
          <a:p>
            <a:pPr indent="0" marL="0">
              <a:buNone/>
            </a:pPr>
            <a:r>
              <a:rPr lang="en-US" sz="2000" b="1" dirty="0">
                <a:solidFill>
                  <a:schemeClr val="bg1"/>
                </a:solidFill>
              </a:rPr>
              <a:t>Mr. Priya Raj Chanda</a:t>
            </a:r>
            <a:endParaRPr lang="en-US" sz="1600" dirty="0"/>
          </a:p>
          <a:p>
            <a:pPr indent="0" marL="0">
              <a:buNone/>
            </a:pPr>
            <a:r>
              <a:rPr lang="en-US" sz="1400" dirty="0">
                <a:solidFill>
                  <a:schemeClr val="accent3"/>
                </a:solidFill>
              </a:rPr>
              <a:t>Assistant Professor</a:t>
            </a:r>
            <a:endParaRPr lang="en-US" sz="1600" dirty="0"/>
          </a:p>
          <a:p>
            <a:pPr indent="0" marL="0">
              <a:buNone/>
            </a:pPr>
            <a:r>
              <a:rPr lang="en-US" sz="1400" dirty="0">
                <a:solidFill>
                  <a:schemeClr val="accent3"/>
                </a:solidFill>
              </a:rPr>
              <a:t>Programme of CSE</a:t>
            </a:r>
            <a:endParaRPr lang="en-US" sz="1600" dirty="0"/>
          </a:p>
        </p:txBody>
      </p:sp>
      <p:sp>
        <p:nvSpPr>
          <p:cNvPr id="11" name="Course line"/>
          <p:cNvSpPr txBox="1"/>
          <p:nvPr/>
        </p:nvSpPr>
        <p:spPr>
          <a:xfrm>
            <a:off x="548640" y="6172200"/>
            <a:ext cx="11094415" cy="365760"/>
          </a:xfrm>
          <a:prstGeom prst="rect">
            <a:avLst/>
          </a:prstGeom>
          <a:noFill/>
          <a:ln/>
        </p:spPr>
        <p:txBody>
          <a:bodyPr wrap="square" lIns="54864" tIns="27432" rIns="54864" bIns="27432" rtlCol="0" anchor="ctr"/>
          <a:lstStyle/>
          <a:p>
            <a:pPr indent="0" marL="0">
              <a:buNone/>
            </a:pPr>
            <a:r>
              <a:rPr sz="1600" b="0">
                <a:solidFill>
                  <a:srgbClr val="232737"/>
                </a:solidFill>
                <a:latin typeface="Aptos"/>
              </a:rPr>
              <a:t>Programming with Python (BTCS2101) · Mini Project · B.Tech CSE, 3rd Semester · 27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Problem and motivation</a:t>
            </a:r>
            <a:endParaRPr lang="en-US" sz="3600" dirty="0"/>
          </a:p>
        </p:txBody>
      </p:sp>
      <p:sp>
        <p:nvSpPr>
          <p:cNvPr id="3" name="Problem card"/>
          <p:cNvSpPr/>
          <p:nvPr/>
        </p:nvSpPr>
        <p:spPr>
          <a:xfrm>
            <a:off x="548640" y="1463040"/>
            <a:ext cx="6858000" cy="4663440"/>
          </a:xfrm>
          <a:prstGeom prst="roundRect">
            <a:avLst>
              <a:gd name="adj" fmla="val 2353"/>
            </a:avLst>
          </a:prstGeom>
          <a:solidFill>
            <a:schemeClr val="bg2"/>
          </a:solidFill>
          <a:ln/>
        </p:spPr>
        <p:txBody>
          <a:bodyPr/>
          <a:p/>
        </p:txBody>
      </p:sp>
      <p:sp>
        <p:nvSpPr>
          <p:cNvPr id="4" name="FaExclamationCircle circle"/>
          <p:cNvSpPr/>
          <p:nvPr/>
        </p:nvSpPr>
        <p:spPr>
          <a:xfrm>
            <a:off x="914400" y="1828800"/>
            <a:ext cx="640080" cy="640080"/>
          </a:xfrm>
          <a:prstGeom prst="ellipse">
            <a:avLst/>
          </a:prstGeom>
          <a:solidFill>
            <a:schemeClr val="accent5"/>
          </a:solidFill>
          <a:ln/>
        </p:spPr>
        <p:txBody>
          <a:bodyPr/>
          <a:p/>
        </p:txBody>
      </p:sp>
      <p:pic>
        <p:nvPicPr>
          <p:cNvPr id="5" name="FaExclamationCircle icon" descr="preencoded.png">    </p:cNvPr>
          <p:cNvPicPr>
            <a:picLocks noChangeAspect="1"/>
          </p:cNvPicPr>
          <p:nvPr/>
        </p:nvPicPr>
        <p:blipFill>
          <a:blip r:embed="rId1"/>
          <a:stretch>
            <a:fillRect/>
          </a:stretch>
        </p:blipFill>
        <p:spPr>
          <a:xfrm>
            <a:off x="1068019" y="1982419"/>
            <a:ext cx="332842" cy="332842"/>
          </a:xfrm>
          <a:prstGeom prst="rect">
            <a:avLst/>
          </a:prstGeom>
        </p:spPr>
      </p:pic>
      <p:sp>
        <p:nvSpPr>
          <p:cNvPr id="6" name="Text 3"/>
          <p:cNvSpPr txBox="1"/>
          <p:nvPr/>
        </p:nvSpPr>
        <p:spPr>
          <a:xfrm>
            <a:off x="1737360" y="1828800"/>
            <a:ext cx="5029200" cy="640080"/>
          </a:xfrm>
          <a:prstGeom prst="rect">
            <a:avLst/>
          </a:prstGeom>
          <a:noFill/>
          <a:ln/>
        </p:spPr>
        <p:txBody>
          <a:bodyPr wrap="square" lIns="0" tIns="0" rIns="0" bIns="0" rtlCol="0" anchor="ctr"/>
          <a:lstStyle/>
          <a:p>
            <a:pPr indent="0" marL="0">
              <a:buNone/>
            </a:pPr>
            <a:r>
              <a:rPr lang="en-US" sz="1400" b="1" spc="100" kern="0" dirty="0">
                <a:solidFill>
                  <a:schemeClr val="accent1"/>
                </a:solidFill>
              </a:rPr>
              <a:t>THE PROBLEM</a:t>
            </a:r>
            <a:endParaRPr lang="en-US" sz="1400" dirty="0"/>
          </a:p>
        </p:txBody>
      </p:sp>
      <p:sp>
        <p:nvSpPr>
          <p:cNvPr id="7" name="Text 4"/>
          <p:cNvSpPr txBox="1"/>
          <p:nvPr/>
        </p:nvSpPr>
        <p:spPr>
          <a:xfrm>
            <a:off x="914400" y="2697480"/>
            <a:ext cx="6126480" cy="1554480"/>
          </a:xfrm>
          <a:prstGeom prst="rect">
            <a:avLst/>
          </a:prstGeom>
          <a:noFill/>
          <a:ln/>
        </p:spPr>
        <p:txBody>
          <a:bodyPr wrap="square" lIns="54864" tIns="27432" rIns="54864" bIns="27432" rtlCol="0" anchor="ctr"/>
          <a:lstStyle/>
          <a:p>
            <a:pPr indent="0" marL="0">
              <a:buNone/>
            </a:pPr>
            <a:r>
              <a:rPr sz="1500" b="0">
                <a:solidFill>
                  <a:srgbClr val="232737"/>
                </a:solidFill>
                <a:latin typeface="Aptos"/>
              </a:rPr>
              <a:t>People managing many online accounts may reuse weak passwords or keep credentials in unprotected notes.</a:t>
            </a:r>
            <a:endParaRPr lang="en-US" sz="2600" dirty="0"/>
          </a:p>
        </p:txBody>
      </p:sp>
      <p:sp>
        <p:nvSpPr>
          <p:cNvPr id="8" name="Text 5"/>
          <p:cNvSpPr txBox="1"/>
          <p:nvPr/>
        </p:nvSpPr>
        <p:spPr>
          <a:xfrm>
            <a:off x="914400" y="4389120"/>
            <a:ext cx="6126480" cy="365760"/>
          </a:xfrm>
          <a:prstGeom prst="rect">
            <a:avLst/>
          </a:prstGeom>
          <a:noFill/>
          <a:ln/>
        </p:spPr>
        <p:txBody>
          <a:bodyPr wrap="square" lIns="0" tIns="0" rIns="0" bIns="0" rtlCol="0" anchor="t"/>
          <a:lstStyle/>
          <a:p>
            <a:pPr indent="0" marL="0">
              <a:buNone/>
            </a:pPr>
            <a:r>
              <a:rPr lang="en-US" sz="1400" b="1" spc="100" kern="0" dirty="0">
                <a:solidFill>
                  <a:schemeClr val="accent1"/>
                </a:solidFill>
              </a:rPr>
              <a:t>WHY IT MATTERS</a:t>
            </a:r>
            <a:endParaRPr lang="en-US" sz="1400" dirty="0"/>
          </a:p>
        </p:txBody>
      </p:sp>
      <p:sp>
        <p:nvSpPr>
          <p:cNvPr id="9" name="Text 6"/>
          <p:cNvSpPr txBox="1"/>
          <p:nvPr/>
        </p:nvSpPr>
        <p:spPr>
          <a:xfrm>
            <a:off x="914400" y="4800600"/>
            <a:ext cx="6126480" cy="1097280"/>
          </a:xfrm>
          <a:prstGeom prst="rect">
            <a:avLst/>
          </a:prstGeom>
          <a:noFill/>
          <a:ln/>
        </p:spPr>
        <p:txBody>
          <a:bodyPr wrap="square" lIns="54864" tIns="27432" rIns="54864" bIns="27432" rtlCol="0" anchor="ctr"/>
          <a:lstStyle/>
          <a:p>
            <a:pPr marL="228600" indent="-228600">
              <a:spcAft>
                <a:spcPts val="600"/>
              </a:spcAft>
              <a:buSzPct val="100000"/>
              <a:buChar char="•"/>
            </a:pPr>
            <a:r>
              <a:rPr sz="1500" b="0">
                <a:solidFill>
                  <a:srgbClr val="232737"/>
                </a:solidFill>
                <a:latin typeface="Aptos"/>
              </a:rPr>
              <a:t>Students and everyday users with multiple online accounts.
Forgotten passwords, repeated passwords and time spent searching for credentials.</a:t>
            </a:r>
            <a:endParaRPr lang="en-US" sz="1600" dirty="0"/>
          </a:p>
        </p:txBody>
      </p:sp>
      <p:sp>
        <p:nvSpPr>
          <p:cNvPr id="10" name="Stat card 1"/>
          <p:cNvSpPr/>
          <p:nvPr/>
        </p:nvSpPr>
        <p:spPr>
          <a:xfrm>
            <a:off x="7680960" y="1463040"/>
            <a:ext cx="3962095" cy="2221992"/>
          </a:xfrm>
          <a:prstGeom prst="roundRect">
            <a:avLst>
              <a:gd name="adj" fmla="val 4938"/>
            </a:avLst>
          </a:prstGeom>
          <a:solidFill>
            <a:schemeClr val="tx1"/>
          </a:solidFill>
          <a:ln/>
        </p:spPr>
        <p:txBody>
          <a:bodyPr/>
          <a:p/>
        </p:txBody>
      </p:sp>
      <p:sp>
        <p:nvSpPr>
          <p:cNvPr id="11" name="Stat 1"/>
          <p:cNvSpPr txBox="1"/>
          <p:nvPr/>
        </p:nvSpPr>
        <p:spPr>
          <a:xfrm>
            <a:off x="8001000" y="1645920"/>
            <a:ext cx="3413455" cy="1874520"/>
          </a:xfrm>
          <a:prstGeom prst="rect">
            <a:avLst/>
          </a:prstGeom>
          <a:noFill/>
          <a:ln/>
        </p:spPr>
        <p:txBody>
          <a:bodyPr wrap="square" lIns="54864" tIns="27432" rIns="54864" bIns="27432" rtlCol="0" anchor="ctr"/>
          <a:lstStyle/>
          <a:p>
            <a:pPr indent="0" marL="0">
              <a:buNone/>
            </a:pPr>
            <a:r>
              <a:rPr sz="1500" b="0">
                <a:solidFill>
                  <a:srgbClr val="232737"/>
                </a:solidFill>
                <a:latin typeface="Aptos"/>
              </a:rPr>
              <a:t>Many accounts
No single organised vault
Project motivation; no external statistic claimed</a:t>
            </a:r>
            <a:endParaRPr lang="en-US" sz="1600" dirty="0"/>
          </a:p>
        </p:txBody>
      </p:sp>
      <p:sp>
        <p:nvSpPr>
          <p:cNvPr id="12" name="Stat card 2"/>
          <p:cNvSpPr/>
          <p:nvPr/>
        </p:nvSpPr>
        <p:spPr>
          <a:xfrm>
            <a:off x="7680960" y="3904488"/>
            <a:ext cx="3962095" cy="2221992"/>
          </a:xfrm>
          <a:prstGeom prst="roundRect">
            <a:avLst>
              <a:gd name="adj" fmla="val 4938"/>
            </a:avLst>
          </a:prstGeom>
          <a:solidFill>
            <a:schemeClr val="tx1"/>
          </a:solidFill>
          <a:ln/>
        </p:spPr>
        <p:txBody>
          <a:bodyPr/>
          <a:p/>
        </p:txBody>
      </p:sp>
      <p:sp>
        <p:nvSpPr>
          <p:cNvPr id="13" name="Stat 2"/>
          <p:cNvSpPr txBox="1"/>
          <p:nvPr/>
        </p:nvSpPr>
        <p:spPr>
          <a:xfrm>
            <a:off x="8001000" y="4087368"/>
            <a:ext cx="3413455" cy="1874520"/>
          </a:xfrm>
          <a:prstGeom prst="rect">
            <a:avLst/>
          </a:prstGeom>
          <a:noFill/>
          <a:ln/>
        </p:spPr>
        <p:txBody>
          <a:bodyPr wrap="square" lIns="73152" tIns="36576" rIns="73152" bIns="36576" rtlCol="0" anchor="ctr"/>
          <a:lstStyle/>
          <a:p>
            <a:pPr indent="0" marL="0">
              <a:buNone/>
            </a:pPr>
            <a:r>
              <a:rPr sz="1400" b="0">
                <a:solidFill>
                  <a:srgbClr val="232737"/>
                </a:solidFill>
                <a:latin typeface="Aptos"/>
              </a:rPr>
              <a:t>Credential safety
VaultX encrypts saved credential values before local storage.
Based on project design; not an independent security audit</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Objectives and scope</a:t>
            </a:r>
            <a:endParaRPr lang="en-US" sz="3600" dirty="0"/>
          </a:p>
        </p:txBody>
      </p:sp>
      <p:sp>
        <p:nvSpPr>
          <p:cNvPr id="3" name="FaBullseye circle"/>
          <p:cNvSpPr/>
          <p:nvPr/>
        </p:nvSpPr>
        <p:spPr>
          <a:xfrm>
            <a:off x="548640" y="1463040"/>
            <a:ext cx="548640" cy="548640"/>
          </a:xfrm>
          <a:prstGeom prst="ellipse">
            <a:avLst/>
          </a:prstGeom>
          <a:solidFill>
            <a:schemeClr val="accent1"/>
          </a:solidFill>
          <a:ln/>
        </p:spPr>
        <p:txBody>
          <a:bodyPr/>
          <a:p/>
        </p:txBody>
      </p:sp>
      <p:pic>
        <p:nvPicPr>
          <p:cNvPr id="4" name="FaBullseye icon" descr="preencoded.png">    </p:cNvPr>
          <p:cNvPicPr>
            <a:picLocks noChangeAspect="1"/>
          </p:cNvPicPr>
          <p:nvPr/>
        </p:nvPicPr>
        <p:blipFill>
          <a:blip r:embed="rId1"/>
          <a:stretch>
            <a:fillRect/>
          </a:stretch>
        </p:blipFill>
        <p:spPr>
          <a:xfrm>
            <a:off x="680314" y="1594714"/>
            <a:ext cx="285293" cy="285293"/>
          </a:xfrm>
          <a:prstGeom prst="rect">
            <a:avLst/>
          </a:prstGeom>
        </p:spPr>
      </p:pic>
      <p:sp>
        <p:nvSpPr>
          <p:cNvPr id="5" name="Text 2"/>
          <p:cNvSpPr txBox="1"/>
          <p:nvPr/>
        </p:nvSpPr>
        <p:spPr>
          <a:xfrm>
            <a:off x="1280160" y="1463040"/>
            <a:ext cx="4572000" cy="548640"/>
          </a:xfrm>
          <a:prstGeom prst="rect">
            <a:avLst/>
          </a:prstGeom>
          <a:noFill/>
          <a:ln/>
        </p:spPr>
        <p:txBody>
          <a:bodyPr wrap="square" lIns="0" tIns="0" rIns="0" bIns="0" rtlCol="0" anchor="ctr"/>
          <a:lstStyle/>
          <a:p>
            <a:pPr indent="0" marL="0">
              <a:buNone/>
            </a:pPr>
            <a:r>
              <a:rPr lang="en-US" sz="2200" b="1" dirty="0">
                <a:solidFill>
                  <a:schemeClr val="tx1"/>
                </a:solidFill>
              </a:rPr>
              <a:t>Objectives</a:t>
            </a:r>
            <a:endParaRPr lang="en-US" sz="2200" dirty="0"/>
          </a:p>
        </p:txBody>
      </p:sp>
      <p:sp>
        <p:nvSpPr>
          <p:cNvPr id="6" name="Objective 1 card"/>
          <p:cNvSpPr/>
          <p:nvPr/>
        </p:nvSpPr>
        <p:spPr>
          <a:xfrm>
            <a:off x="548640" y="2331720"/>
            <a:ext cx="6675120" cy="777240"/>
          </a:xfrm>
          <a:prstGeom prst="roundRect">
            <a:avLst>
              <a:gd name="adj" fmla="val 14118"/>
            </a:avLst>
          </a:prstGeom>
          <a:solidFill>
            <a:schemeClr val="bg2"/>
          </a:solidFill>
          <a:ln/>
        </p:spPr>
        <p:txBody>
          <a:bodyPr/>
          <a:p/>
        </p:txBody>
      </p:sp>
      <p:sp>
        <p:nvSpPr>
          <p:cNvPr id="7" name="Number O1"/>
          <p:cNvSpPr txBox="1"/>
          <p:nvPr/>
        </p:nvSpPr>
        <p:spPr>
          <a:xfrm>
            <a:off x="731520" y="24917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O1</a:t>
            </a:r>
            <a:endParaRPr lang="en-US" sz="1400" dirty="0"/>
          </a:p>
        </p:txBody>
      </p:sp>
      <p:sp>
        <p:nvSpPr>
          <p:cNvPr id="8" name="Text 5"/>
          <p:cNvSpPr txBox="1"/>
          <p:nvPr/>
        </p:nvSpPr>
        <p:spPr>
          <a:xfrm>
            <a:off x="1417320" y="2423160"/>
            <a:ext cx="5669280" cy="594360"/>
          </a:xfrm>
          <a:prstGeom prst="rect">
            <a:avLst/>
          </a:prstGeom>
          <a:noFill/>
          <a:ln/>
        </p:spPr>
        <p:txBody>
          <a:bodyPr wrap="square" lIns="54864" tIns="27432" rIns="54864" bIns="27432" rtlCol="0" anchor="ctr"/>
          <a:lstStyle/>
          <a:p>
            <a:pPr indent="0" marL="0">
              <a:buNone/>
            </a:pPr>
            <a:r>
              <a:rPr sz="1400" b="0">
                <a:solidFill>
                  <a:srgbClr val="232737"/>
                </a:solidFill>
                <a:latin typeface="Aptos"/>
              </a:rPr>
              <a:t>Provide master-password setup and login.</a:t>
            </a:r>
            <a:endParaRPr lang="en-US" sz="1800" dirty="0"/>
          </a:p>
        </p:txBody>
      </p:sp>
      <p:sp>
        <p:nvSpPr>
          <p:cNvPr id="9" name="Objective 2 card"/>
          <p:cNvSpPr/>
          <p:nvPr/>
        </p:nvSpPr>
        <p:spPr>
          <a:xfrm>
            <a:off x="548640" y="3264408"/>
            <a:ext cx="6675120" cy="777240"/>
          </a:xfrm>
          <a:prstGeom prst="roundRect">
            <a:avLst>
              <a:gd name="adj" fmla="val 14118"/>
            </a:avLst>
          </a:prstGeom>
          <a:solidFill>
            <a:schemeClr val="bg2"/>
          </a:solidFill>
          <a:ln/>
        </p:spPr>
        <p:txBody>
          <a:bodyPr/>
          <a:p/>
        </p:txBody>
      </p:sp>
      <p:sp>
        <p:nvSpPr>
          <p:cNvPr id="10" name="Number O2"/>
          <p:cNvSpPr txBox="1"/>
          <p:nvPr/>
        </p:nvSpPr>
        <p:spPr>
          <a:xfrm>
            <a:off x="731520" y="3424428"/>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O2</a:t>
            </a:r>
            <a:endParaRPr lang="en-US" sz="1400" dirty="0"/>
          </a:p>
        </p:txBody>
      </p:sp>
      <p:sp>
        <p:nvSpPr>
          <p:cNvPr id="11" name="Text 8"/>
          <p:cNvSpPr txBox="1"/>
          <p:nvPr/>
        </p:nvSpPr>
        <p:spPr>
          <a:xfrm>
            <a:off x="1417320" y="3355848"/>
            <a:ext cx="5669280" cy="594360"/>
          </a:xfrm>
          <a:prstGeom prst="rect">
            <a:avLst/>
          </a:prstGeom>
          <a:noFill/>
          <a:ln/>
        </p:spPr>
        <p:txBody>
          <a:bodyPr wrap="square" lIns="54864" tIns="27432" rIns="54864" bIns="27432" rtlCol="0" anchor="ctr"/>
          <a:lstStyle/>
          <a:p>
            <a:pPr indent="0" marL="0">
              <a:buNone/>
            </a:pPr>
            <a:r>
              <a:rPr sz="1400" b="0">
                <a:solidFill>
                  <a:srgbClr val="232737"/>
                </a:solidFill>
                <a:latin typeface="Aptos"/>
              </a:rPr>
              <a:t>Add, search, view, edit and delete saved entries.</a:t>
            </a:r>
            <a:endParaRPr lang="en-US" sz="1800" dirty="0"/>
          </a:p>
        </p:txBody>
      </p:sp>
      <p:sp>
        <p:nvSpPr>
          <p:cNvPr id="12" name="Objective 3 card"/>
          <p:cNvSpPr/>
          <p:nvPr/>
        </p:nvSpPr>
        <p:spPr>
          <a:xfrm>
            <a:off x="548640" y="4197096"/>
            <a:ext cx="6675120" cy="777240"/>
          </a:xfrm>
          <a:prstGeom prst="roundRect">
            <a:avLst>
              <a:gd name="adj" fmla="val 14118"/>
            </a:avLst>
          </a:prstGeom>
          <a:solidFill>
            <a:schemeClr val="bg2"/>
          </a:solidFill>
          <a:ln/>
        </p:spPr>
        <p:txBody>
          <a:bodyPr/>
          <a:p/>
        </p:txBody>
      </p:sp>
      <p:sp>
        <p:nvSpPr>
          <p:cNvPr id="13" name="Number O3"/>
          <p:cNvSpPr txBox="1"/>
          <p:nvPr/>
        </p:nvSpPr>
        <p:spPr>
          <a:xfrm>
            <a:off x="731520" y="4357116"/>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O3</a:t>
            </a:r>
            <a:endParaRPr lang="en-US" sz="1400" dirty="0"/>
          </a:p>
        </p:txBody>
      </p:sp>
      <p:sp>
        <p:nvSpPr>
          <p:cNvPr id="14" name="Text 11"/>
          <p:cNvSpPr txBox="1"/>
          <p:nvPr/>
        </p:nvSpPr>
        <p:spPr>
          <a:xfrm>
            <a:off x="1417320" y="4288536"/>
            <a:ext cx="5669280" cy="594360"/>
          </a:xfrm>
          <a:prstGeom prst="rect">
            <a:avLst/>
          </a:prstGeom>
          <a:noFill/>
          <a:ln/>
        </p:spPr>
        <p:txBody>
          <a:bodyPr wrap="square" lIns="54864" tIns="27432" rIns="54864" bIns="27432" rtlCol="0" anchor="ctr"/>
          <a:lstStyle/>
          <a:p>
            <a:pPr indent="0" marL="0">
              <a:buNone/>
            </a:pPr>
            <a:r>
              <a:rPr sz="1400" b="0">
                <a:solidFill>
                  <a:srgbClr val="232737"/>
                </a:solidFill>
                <a:latin typeface="Aptos"/>
              </a:rPr>
              <a:t>Generate random passwords for new accounts.</a:t>
            </a:r>
            <a:endParaRPr lang="en-US" sz="1800" dirty="0"/>
          </a:p>
        </p:txBody>
      </p:sp>
      <p:sp>
        <p:nvSpPr>
          <p:cNvPr id="15" name="Objective 4 card"/>
          <p:cNvSpPr/>
          <p:nvPr/>
        </p:nvSpPr>
        <p:spPr>
          <a:xfrm>
            <a:off x="548640" y="5129784"/>
            <a:ext cx="6675120" cy="777240"/>
          </a:xfrm>
          <a:prstGeom prst="roundRect">
            <a:avLst>
              <a:gd name="adj" fmla="val 14118"/>
            </a:avLst>
          </a:prstGeom>
          <a:solidFill>
            <a:schemeClr val="bg2"/>
          </a:solidFill>
          <a:ln/>
        </p:spPr>
        <p:txBody>
          <a:bodyPr/>
          <a:p/>
        </p:txBody>
      </p:sp>
      <p:sp>
        <p:nvSpPr>
          <p:cNvPr id="16" name="Number O4"/>
          <p:cNvSpPr txBox="1"/>
          <p:nvPr/>
        </p:nvSpPr>
        <p:spPr>
          <a:xfrm>
            <a:off x="731520" y="5289804"/>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O4</a:t>
            </a:r>
            <a:endParaRPr lang="en-US" sz="1400" dirty="0"/>
          </a:p>
        </p:txBody>
      </p:sp>
      <p:sp>
        <p:nvSpPr>
          <p:cNvPr id="17" name="Text 14"/>
          <p:cNvSpPr txBox="1"/>
          <p:nvPr/>
        </p:nvSpPr>
        <p:spPr>
          <a:xfrm>
            <a:off x="1417320" y="5221224"/>
            <a:ext cx="5669280" cy="594360"/>
          </a:xfrm>
          <a:prstGeom prst="rect">
            <a:avLst/>
          </a:prstGeom>
          <a:noFill/>
          <a:ln/>
        </p:spPr>
        <p:txBody>
          <a:bodyPr wrap="square" lIns="54864" tIns="27432" rIns="54864" bIns="27432" rtlCol="0" anchor="ctr"/>
          <a:lstStyle/>
          <a:p>
            <a:pPr indent="0" marL="0">
              <a:buNone/>
            </a:pPr>
            <a:r>
              <a:rPr sz="1400" b="0">
                <a:solidFill>
                  <a:srgbClr val="232737"/>
                </a:solidFill>
                <a:latin typeface="Aptos"/>
              </a:rPr>
              <a:t>Store credential data locally with encryption.</a:t>
            </a:r>
            <a:endParaRPr lang="en-US" sz="1800" dirty="0"/>
          </a:p>
        </p:txBody>
      </p:sp>
      <p:sp>
        <p:nvSpPr>
          <p:cNvPr id="18" name="In scope card"/>
          <p:cNvSpPr/>
          <p:nvPr/>
        </p:nvSpPr>
        <p:spPr>
          <a:xfrm>
            <a:off x="7543800" y="1463040"/>
            <a:ext cx="4099255" cy="2221992"/>
          </a:xfrm>
          <a:prstGeom prst="roundRect">
            <a:avLst>
              <a:gd name="adj" fmla="val 4938"/>
            </a:avLst>
          </a:prstGeom>
          <a:solidFill>
            <a:schemeClr val="bg2"/>
          </a:solidFill>
          <a:ln/>
        </p:spPr>
        <p:txBody>
          <a:bodyPr/>
          <a:p/>
        </p:txBody>
      </p:sp>
      <p:sp>
        <p:nvSpPr>
          <p:cNvPr id="19" name="FaCheck circle"/>
          <p:cNvSpPr/>
          <p:nvPr/>
        </p:nvSpPr>
        <p:spPr>
          <a:xfrm>
            <a:off x="7818120" y="1737360"/>
            <a:ext cx="502920" cy="502920"/>
          </a:xfrm>
          <a:prstGeom prst="ellipse">
            <a:avLst/>
          </a:prstGeom>
          <a:solidFill>
            <a:schemeClr val="accent4"/>
          </a:solidFill>
          <a:ln/>
        </p:spPr>
        <p:txBody>
          <a:bodyPr/>
          <a:p/>
        </p:txBody>
      </p:sp>
      <p:pic>
        <p:nvPicPr>
          <p:cNvPr id="20" name="FaCheck icon" descr="preencoded.png">    </p:cNvPr>
          <p:cNvPicPr>
            <a:picLocks noChangeAspect="1"/>
          </p:cNvPicPr>
          <p:nvPr/>
        </p:nvPicPr>
        <p:blipFill>
          <a:blip r:embed="rId2"/>
          <a:stretch>
            <a:fillRect/>
          </a:stretch>
        </p:blipFill>
        <p:spPr>
          <a:xfrm>
            <a:off x="7938821" y="1858061"/>
            <a:ext cx="261518" cy="261518"/>
          </a:xfrm>
          <a:prstGeom prst="rect">
            <a:avLst/>
          </a:prstGeom>
        </p:spPr>
      </p:pic>
      <p:sp>
        <p:nvSpPr>
          <p:cNvPr id="21" name="Text 17"/>
          <p:cNvSpPr txBox="1"/>
          <p:nvPr/>
        </p:nvSpPr>
        <p:spPr>
          <a:xfrm>
            <a:off x="8503920" y="1737360"/>
            <a:ext cx="2910535" cy="502920"/>
          </a:xfrm>
          <a:prstGeom prst="rect">
            <a:avLst/>
          </a:prstGeom>
          <a:noFill/>
          <a:ln/>
        </p:spPr>
        <p:txBody>
          <a:bodyPr wrap="square" lIns="0" tIns="0" rIns="0" bIns="0" rtlCol="0" anchor="ctr"/>
          <a:lstStyle/>
          <a:p>
            <a:pPr indent="0" marL="0">
              <a:buNone/>
            </a:pPr>
            <a:r>
              <a:rPr lang="en-US" sz="2000" b="1" dirty="0">
                <a:solidFill>
                  <a:schemeClr val="tx1"/>
                </a:solidFill>
              </a:rPr>
              <a:t>In scope</a:t>
            </a:r>
            <a:endParaRPr lang="en-US" sz="2000" dirty="0"/>
          </a:p>
        </p:txBody>
      </p:sp>
      <p:sp>
        <p:nvSpPr>
          <p:cNvPr id="22" name="Text 18"/>
          <p:cNvSpPr txBox="1"/>
          <p:nvPr/>
        </p:nvSpPr>
        <p:spPr>
          <a:xfrm>
            <a:off x="7863840" y="2377440"/>
            <a:ext cx="3550615" cy="1188720"/>
          </a:xfrm>
          <a:prstGeom prst="rect">
            <a:avLst/>
          </a:prstGeom>
          <a:noFill/>
          <a:ln/>
        </p:spPr>
        <p:txBody>
          <a:bodyPr wrap="square" lIns="54864" tIns="27432" rIns="54864" bIns="27432" rtlCol="0" anchor="ctr"/>
          <a:lstStyle/>
          <a:p>
            <a:pPr marL="228600" indent="-228600">
              <a:spcAft>
                <a:spcPts val="600"/>
              </a:spcAft>
              <a:buSzPct val="100000"/>
              <a:buChar char="•"/>
            </a:pPr>
            <a:r>
              <a:rPr sz="1400" b="0">
                <a:solidFill>
                  <a:srgbClr val="232737"/>
                </a:solidFill>
                <a:latin typeface="Aptos"/>
              </a:rPr>
              <a:t>Local credential management
Single user on a trusted computer
Browser-based interface and password generator</a:t>
            </a:r>
            <a:endParaRPr lang="en-US" sz="1600" dirty="0"/>
          </a:p>
        </p:txBody>
      </p:sp>
      <p:sp>
        <p:nvSpPr>
          <p:cNvPr id="23" name="Out of scope card"/>
          <p:cNvSpPr/>
          <p:nvPr/>
        </p:nvSpPr>
        <p:spPr>
          <a:xfrm>
            <a:off x="7543800" y="3904488"/>
            <a:ext cx="4099255" cy="2221992"/>
          </a:xfrm>
          <a:prstGeom prst="roundRect">
            <a:avLst>
              <a:gd name="adj" fmla="val 4938"/>
            </a:avLst>
          </a:prstGeom>
          <a:solidFill>
            <a:schemeClr val="bg2"/>
          </a:solidFill>
          <a:ln/>
        </p:spPr>
        <p:txBody>
          <a:bodyPr/>
          <a:p/>
        </p:txBody>
      </p:sp>
      <p:sp>
        <p:nvSpPr>
          <p:cNvPr id="24" name="FaTimes circle"/>
          <p:cNvSpPr/>
          <p:nvPr/>
        </p:nvSpPr>
        <p:spPr>
          <a:xfrm>
            <a:off x="7818120" y="4178808"/>
            <a:ext cx="502920" cy="502920"/>
          </a:xfrm>
          <a:prstGeom prst="ellipse">
            <a:avLst/>
          </a:prstGeom>
          <a:solidFill>
            <a:schemeClr val="accent5"/>
          </a:solidFill>
          <a:ln/>
        </p:spPr>
        <p:txBody>
          <a:bodyPr/>
          <a:p/>
        </p:txBody>
      </p:sp>
      <p:pic>
        <p:nvPicPr>
          <p:cNvPr id="25" name="FaTimes icon" descr="preencoded.png">    </p:cNvPr>
          <p:cNvPicPr>
            <a:picLocks noChangeAspect="1"/>
          </p:cNvPicPr>
          <p:nvPr/>
        </p:nvPicPr>
        <p:blipFill>
          <a:blip r:embed="rId3"/>
          <a:stretch>
            <a:fillRect/>
          </a:stretch>
        </p:blipFill>
        <p:spPr>
          <a:xfrm>
            <a:off x="7938821" y="4299509"/>
            <a:ext cx="261518" cy="261518"/>
          </a:xfrm>
          <a:prstGeom prst="rect">
            <a:avLst/>
          </a:prstGeom>
        </p:spPr>
      </p:pic>
      <p:sp>
        <p:nvSpPr>
          <p:cNvPr id="26" name="Text 21"/>
          <p:cNvSpPr txBox="1"/>
          <p:nvPr/>
        </p:nvSpPr>
        <p:spPr>
          <a:xfrm>
            <a:off x="8503920" y="4178808"/>
            <a:ext cx="2910535" cy="502920"/>
          </a:xfrm>
          <a:prstGeom prst="rect">
            <a:avLst/>
          </a:prstGeom>
          <a:noFill/>
          <a:ln/>
        </p:spPr>
        <p:txBody>
          <a:bodyPr wrap="square" lIns="0" tIns="0" rIns="0" bIns="0" rtlCol="0" anchor="ctr"/>
          <a:lstStyle/>
          <a:p>
            <a:pPr indent="0" marL="0">
              <a:buNone/>
            </a:pPr>
            <a:r>
              <a:rPr lang="en-US" sz="2000" b="1" dirty="0">
                <a:solidFill>
                  <a:schemeClr val="tx1"/>
                </a:solidFill>
              </a:rPr>
              <a:t>Out of scope</a:t>
            </a:r>
            <a:endParaRPr lang="en-US" sz="2000" dirty="0"/>
          </a:p>
        </p:txBody>
      </p:sp>
      <p:sp>
        <p:nvSpPr>
          <p:cNvPr id="27" name="Text 22"/>
          <p:cNvSpPr txBox="1"/>
          <p:nvPr/>
        </p:nvSpPr>
        <p:spPr>
          <a:xfrm>
            <a:off x="7863840" y="4818888"/>
            <a:ext cx="3550615" cy="1188720"/>
          </a:xfrm>
          <a:prstGeom prst="rect">
            <a:avLst/>
          </a:prstGeom>
          <a:noFill/>
          <a:ln/>
        </p:spPr>
        <p:txBody>
          <a:bodyPr wrap="square" lIns="73152" tIns="36576" rIns="73152" bIns="36576" rtlCol="0" anchor="ctr"/>
          <a:lstStyle/>
          <a:p>
            <a:pPr marL="228600" indent="-228600">
              <a:spcAft>
                <a:spcPts val="600"/>
              </a:spcAft>
              <a:buSzPct val="100000"/>
              <a:buChar char="•"/>
            </a:pPr>
            <a:r>
              <a:rPr sz="1300" b="0">
                <a:solidFill>
                  <a:srgbClr val="232737"/>
                </a:solidFill>
                <a:latin typeface="Aptos"/>
              </a:rPr>
              <a:t>No cloud sync, multi-user access or browser extension
Educational prototype; no independent security audit</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Tools and technologies</a:t>
            </a:r>
            <a:endParaRPr lang="en-US" sz="3600" dirty="0"/>
          </a:p>
        </p:txBody>
      </p:sp>
      <p:sp>
        <p:nvSpPr>
          <p:cNvPr id="3" name="Python card"/>
          <p:cNvSpPr/>
          <p:nvPr/>
        </p:nvSpPr>
        <p:spPr>
          <a:xfrm>
            <a:off x="548640" y="1463040"/>
            <a:ext cx="3515258" cy="2194560"/>
          </a:xfrm>
          <a:prstGeom prst="roundRect">
            <a:avLst>
              <a:gd name="adj" fmla="val 5000"/>
            </a:avLst>
          </a:prstGeom>
          <a:solidFill>
            <a:schemeClr val="bg2"/>
          </a:solidFill>
          <a:ln/>
        </p:spPr>
        <p:txBody>
          <a:bodyPr/>
          <a:p/>
        </p:txBody>
      </p:sp>
      <p:sp>
        <p:nvSpPr>
          <p:cNvPr id="4" name="FaCode circle"/>
          <p:cNvSpPr/>
          <p:nvPr/>
        </p:nvSpPr>
        <p:spPr>
          <a:xfrm>
            <a:off x="822960" y="1737360"/>
            <a:ext cx="685800" cy="685800"/>
          </a:xfrm>
          <a:prstGeom prst="ellipse">
            <a:avLst/>
          </a:prstGeom>
          <a:solidFill>
            <a:schemeClr val="accent1"/>
          </a:solidFill>
          <a:ln/>
        </p:spPr>
        <p:txBody>
          <a:bodyPr/>
          <a:p/>
        </p:txBody>
      </p:sp>
      <p:pic>
        <p:nvPicPr>
          <p:cNvPr id="5" name="FaCode icon"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6" name="Python text"/>
          <p:cNvSpPr txBox="1"/>
          <p:nvPr/>
        </p:nvSpPr>
        <p:spPr>
          <a:xfrm>
            <a:off x="822960" y="2560320"/>
            <a:ext cx="2966618" cy="960120"/>
          </a:xfrm>
          <a:prstGeom prst="rect">
            <a:avLst/>
          </a:prstGeom>
          <a:noFill/>
          <a:ln/>
        </p:spPr>
        <p:txBody>
          <a:bodyPr wrap="square" lIns="64008" tIns="36576" rIns="64008" bIns="36576" rtlCol="0" anchor="ctr"/>
          <a:lstStyle/>
          <a:p>
            <a:pPr indent="0" marL="0">
              <a:buNone/>
            </a:pPr>
            <a:r>
              <a:rPr sz="1200" b="0">
                <a:solidFill>
                  <a:srgbClr val="232737"/>
                </a:solidFill>
                <a:latin typeface="Aptos"/>
              </a:rPr>
              <a:t>Python
Version: 3.15 (shown in terminal path; verify with python --version)
Programming language</a:t>
            </a:r>
            <a:endParaRPr lang="en-US" sz="1600" dirty="0"/>
          </a:p>
        </p:txBody>
      </p:sp>
      <p:sp>
        <p:nvSpPr>
          <p:cNvPr id="7" name="[Framework] card"/>
          <p:cNvSpPr/>
          <p:nvPr/>
        </p:nvSpPr>
        <p:spPr>
          <a:xfrm>
            <a:off x="4338218" y="1463040"/>
            <a:ext cx="3515258" cy="2194560"/>
          </a:xfrm>
          <a:prstGeom prst="roundRect">
            <a:avLst>
              <a:gd name="adj" fmla="val 5000"/>
            </a:avLst>
          </a:prstGeom>
          <a:solidFill>
            <a:schemeClr val="bg2"/>
          </a:solidFill>
          <a:ln/>
        </p:spPr>
        <p:txBody>
          <a:bodyPr/>
          <a:p/>
        </p:txBody>
      </p:sp>
      <p:sp>
        <p:nvSpPr>
          <p:cNvPr id="8" name="FaLayerGroup circle"/>
          <p:cNvSpPr/>
          <p:nvPr/>
        </p:nvSpPr>
        <p:spPr>
          <a:xfrm>
            <a:off x="4612538" y="1737360"/>
            <a:ext cx="685800" cy="685800"/>
          </a:xfrm>
          <a:prstGeom prst="ellipse">
            <a:avLst/>
          </a:prstGeom>
          <a:solidFill>
            <a:schemeClr val="accent1"/>
          </a:solidFill>
          <a:ln/>
        </p:spPr>
        <p:txBody>
          <a:bodyPr/>
          <a:p/>
        </p:txBody>
      </p:sp>
      <p:pic>
        <p:nvPicPr>
          <p:cNvPr id="9" name="FaLayerGroup icon" descr="preencoded.png">    </p:cNvPr>
          <p:cNvPicPr>
            <a:picLocks noChangeAspect="1"/>
          </p:cNvPicPr>
          <p:nvPr/>
        </p:nvPicPr>
        <p:blipFill>
          <a:blip r:embed="rId2"/>
          <a:stretch>
            <a:fillRect/>
          </a:stretch>
        </p:blipFill>
        <p:spPr>
          <a:xfrm>
            <a:off x="4777130" y="1901952"/>
            <a:ext cx="356616" cy="356616"/>
          </a:xfrm>
          <a:prstGeom prst="rect">
            <a:avLst/>
          </a:prstGeom>
        </p:spPr>
      </p:pic>
      <p:sp>
        <p:nvSpPr>
          <p:cNvPr id="10" name="[Framework] text"/>
          <p:cNvSpPr txBox="1"/>
          <p:nvPr/>
        </p:nvSpPr>
        <p:spPr>
          <a:xfrm>
            <a:off x="4612538" y="2560320"/>
            <a:ext cx="2966618" cy="960120"/>
          </a:xfrm>
          <a:prstGeom prst="rect">
            <a:avLst/>
          </a:prstGeom>
          <a:noFill/>
          <a:ln/>
        </p:spPr>
        <p:txBody>
          <a:bodyPr wrap="square" lIns="64008" tIns="36576" rIns="64008" bIns="36576" rtlCol="0" anchor="ctr"/>
          <a:lstStyle/>
          <a:p>
            <a:pPr indent="0" marL="0">
              <a:buNone/>
            </a:pPr>
            <a:r>
              <a:rPr sz="1200" b="0">
                <a:solidFill>
                  <a:srgbClr val="232737"/>
                </a:solidFill>
                <a:latin typeface="Aptos"/>
              </a:rPr>
              <a:t>Flask
Version: 3.1.3
Local web routing and request handling</a:t>
            </a:r>
            <a:endParaRPr lang="en-US" sz="1600" dirty="0"/>
          </a:p>
        </p:txBody>
      </p:sp>
      <p:sp>
        <p:nvSpPr>
          <p:cNvPr id="11" name="[Library] card"/>
          <p:cNvSpPr/>
          <p:nvPr/>
        </p:nvSpPr>
        <p:spPr>
          <a:xfrm>
            <a:off x="8127797" y="1463040"/>
            <a:ext cx="3515258" cy="2194560"/>
          </a:xfrm>
          <a:prstGeom prst="roundRect">
            <a:avLst>
              <a:gd name="adj" fmla="val 5000"/>
            </a:avLst>
          </a:prstGeom>
          <a:solidFill>
            <a:schemeClr val="bg2"/>
          </a:solidFill>
          <a:ln/>
        </p:spPr>
        <p:txBody>
          <a:bodyPr/>
          <a:p/>
        </p:txBody>
      </p:sp>
      <p:sp>
        <p:nvSpPr>
          <p:cNvPr id="12" name="FaChartBar circle"/>
          <p:cNvSpPr/>
          <p:nvPr/>
        </p:nvSpPr>
        <p:spPr>
          <a:xfrm>
            <a:off x="8402117" y="1737360"/>
            <a:ext cx="685800" cy="685800"/>
          </a:xfrm>
          <a:prstGeom prst="ellipse">
            <a:avLst/>
          </a:prstGeom>
          <a:solidFill>
            <a:schemeClr val="accent1"/>
          </a:solidFill>
          <a:ln/>
        </p:spPr>
        <p:txBody>
          <a:bodyPr/>
          <a:p/>
        </p:txBody>
      </p:sp>
      <p:pic>
        <p:nvPicPr>
          <p:cNvPr id="13" name="FaChartBar icon" descr="preencoded.png">    </p:cNvPr>
          <p:cNvPicPr>
            <a:picLocks noChangeAspect="1"/>
          </p:cNvPicPr>
          <p:nvPr/>
        </p:nvPicPr>
        <p:blipFill>
          <a:blip r:embed="rId3"/>
          <a:stretch>
            <a:fillRect/>
          </a:stretch>
        </p:blipFill>
        <p:spPr>
          <a:xfrm>
            <a:off x="8566709" y="1901952"/>
            <a:ext cx="356616" cy="356616"/>
          </a:xfrm>
          <a:prstGeom prst="rect">
            <a:avLst/>
          </a:prstGeom>
        </p:spPr>
      </p:pic>
      <p:sp>
        <p:nvSpPr>
          <p:cNvPr id="14" name="[Library] text"/>
          <p:cNvSpPr txBox="1"/>
          <p:nvPr/>
        </p:nvSpPr>
        <p:spPr>
          <a:xfrm>
            <a:off x="8402117" y="2560320"/>
            <a:ext cx="2966618" cy="9601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Cryptography
Version: 50.0.2 (terminal output)
Fernet encryption; Scrypt key derivation per report</a:t>
            </a:r>
            <a:endParaRPr lang="en-US" sz="1600" dirty="0"/>
          </a:p>
        </p:txBody>
      </p:sp>
      <p:sp>
        <p:nvSpPr>
          <p:cNvPr id="15" name="[Database or data files] card"/>
          <p:cNvSpPr/>
          <p:nvPr/>
        </p:nvSpPr>
        <p:spPr>
          <a:xfrm>
            <a:off x="548640" y="3931920"/>
            <a:ext cx="3515258" cy="2194560"/>
          </a:xfrm>
          <a:prstGeom prst="roundRect">
            <a:avLst>
              <a:gd name="adj" fmla="val 5000"/>
            </a:avLst>
          </a:prstGeom>
          <a:solidFill>
            <a:schemeClr val="bg2"/>
          </a:solidFill>
          <a:ln/>
        </p:spPr>
        <p:txBody>
          <a:bodyPr/>
          <a:p/>
        </p:txBody>
      </p:sp>
      <p:sp>
        <p:nvSpPr>
          <p:cNvPr id="16" name="FaDatabase circle"/>
          <p:cNvSpPr/>
          <p:nvPr/>
        </p:nvSpPr>
        <p:spPr>
          <a:xfrm>
            <a:off x="822960" y="4206240"/>
            <a:ext cx="685800" cy="685800"/>
          </a:xfrm>
          <a:prstGeom prst="ellipse">
            <a:avLst/>
          </a:prstGeom>
          <a:solidFill>
            <a:schemeClr val="accent1"/>
          </a:solidFill>
          <a:ln/>
        </p:spPr>
        <p:txBody>
          <a:bodyPr/>
          <a:p/>
        </p:txBody>
      </p:sp>
      <p:pic>
        <p:nvPicPr>
          <p:cNvPr id="17" name="FaDatabase icon" descr="preencoded.png">    </p:cNvPr>
          <p:cNvPicPr>
            <a:picLocks noChangeAspect="1"/>
          </p:cNvPicPr>
          <p:nvPr/>
        </p:nvPicPr>
        <p:blipFill>
          <a:blip r:embed="rId4"/>
          <a:stretch>
            <a:fillRect/>
          </a:stretch>
        </p:blipFill>
        <p:spPr>
          <a:xfrm>
            <a:off x="987552" y="4370832"/>
            <a:ext cx="356616" cy="356616"/>
          </a:xfrm>
          <a:prstGeom prst="rect">
            <a:avLst/>
          </a:prstGeom>
        </p:spPr>
      </p:pic>
      <p:sp>
        <p:nvSpPr>
          <p:cNvPr id="18" name="[Database or data files] text"/>
          <p:cNvSpPr txBox="1"/>
          <p:nvPr/>
        </p:nvSpPr>
        <p:spPr>
          <a:xfrm>
            <a:off x="822960" y="5029200"/>
            <a:ext cx="2966618" cy="960120"/>
          </a:xfrm>
          <a:prstGeom prst="rect">
            <a:avLst/>
          </a:prstGeom>
          <a:noFill/>
          <a:ln/>
        </p:spPr>
        <p:txBody>
          <a:bodyPr wrap="square" lIns="64008" tIns="36576" rIns="64008" bIns="36576" rtlCol="0" anchor="ctr"/>
          <a:lstStyle/>
          <a:p>
            <a:pPr indent="0" marL="0">
              <a:buNone/>
            </a:pPr>
            <a:r>
              <a:rPr sz="1200" b="0">
                <a:solidFill>
                  <a:srgbClr val="232737"/>
                </a:solidFill>
                <a:latin typeface="Aptos"/>
              </a:rPr>
              <a:t>SQLite
Local database
Stores application credential records</a:t>
            </a:r>
            <a:endParaRPr lang="en-US" sz="1600" dirty="0"/>
          </a:p>
        </p:txBody>
      </p:sp>
      <p:sp>
        <p:nvSpPr>
          <p:cNvPr id="19" name="[Editor or IDE] card"/>
          <p:cNvSpPr/>
          <p:nvPr/>
        </p:nvSpPr>
        <p:spPr>
          <a:xfrm>
            <a:off x="4338218" y="3931920"/>
            <a:ext cx="3515258" cy="2194560"/>
          </a:xfrm>
          <a:prstGeom prst="roundRect">
            <a:avLst>
              <a:gd name="adj" fmla="val 5000"/>
            </a:avLst>
          </a:prstGeom>
          <a:solidFill>
            <a:schemeClr val="bg2"/>
          </a:solidFill>
          <a:ln/>
        </p:spPr>
        <p:txBody>
          <a:bodyPr/>
          <a:p/>
        </p:txBody>
      </p:sp>
      <p:sp>
        <p:nvSpPr>
          <p:cNvPr id="20" name="FaLaptopCode circle"/>
          <p:cNvSpPr/>
          <p:nvPr/>
        </p:nvSpPr>
        <p:spPr>
          <a:xfrm>
            <a:off x="4612538" y="4206240"/>
            <a:ext cx="685800" cy="685800"/>
          </a:xfrm>
          <a:prstGeom prst="ellipse">
            <a:avLst/>
          </a:prstGeom>
          <a:solidFill>
            <a:schemeClr val="accent1"/>
          </a:solidFill>
          <a:ln/>
        </p:spPr>
        <p:txBody>
          <a:bodyPr/>
          <a:p/>
        </p:txBody>
      </p:sp>
      <p:pic>
        <p:nvPicPr>
          <p:cNvPr id="21" name="FaLaptopCode icon" descr="preencoded.png">    </p:cNvPr>
          <p:cNvPicPr>
            <a:picLocks noChangeAspect="1"/>
          </p:cNvPicPr>
          <p:nvPr/>
        </p:nvPicPr>
        <p:blipFill>
          <a:blip r:embed="rId5"/>
          <a:stretch>
            <a:fillRect/>
          </a:stretch>
        </p:blipFill>
        <p:spPr>
          <a:xfrm>
            <a:off x="4777130" y="4370832"/>
            <a:ext cx="356616" cy="356616"/>
          </a:xfrm>
          <a:prstGeom prst="rect">
            <a:avLst/>
          </a:prstGeom>
        </p:spPr>
      </p:pic>
      <p:sp>
        <p:nvSpPr>
          <p:cNvPr id="22" name="[Editor or IDE] text"/>
          <p:cNvSpPr txBox="1"/>
          <p:nvPr/>
        </p:nvSpPr>
        <p:spPr>
          <a:xfrm>
            <a:off x="4612538" y="5029200"/>
            <a:ext cx="2966618" cy="960120"/>
          </a:xfrm>
          <a:prstGeom prst="rect">
            <a:avLst/>
          </a:prstGeom>
          <a:noFill/>
          <a:ln/>
        </p:spPr>
        <p:txBody>
          <a:bodyPr wrap="square" lIns="64008" tIns="36576" rIns="64008" bIns="36576" rtlCol="0" anchor="ctr"/>
          <a:lstStyle/>
          <a:p>
            <a:pPr indent="0" marL="0">
              <a:buNone/>
            </a:pPr>
            <a:r>
              <a:rPr sz="1200" b="0">
                <a:solidFill>
                  <a:srgbClr val="232737"/>
                </a:solidFill>
                <a:latin typeface="Aptos"/>
              </a:rPr>
              <a:t>PowerShell / IDE
Windows development environment
Running and debugging the app</a:t>
            </a:r>
            <a:endParaRPr lang="en-US" sz="1600" dirty="0"/>
          </a:p>
        </p:txBody>
      </p:sp>
      <p:sp>
        <p:nvSpPr>
          <p:cNvPr id="23" name="Git and GitHub card"/>
          <p:cNvSpPr/>
          <p:nvPr/>
        </p:nvSpPr>
        <p:spPr>
          <a:xfrm>
            <a:off x="8127797" y="3931920"/>
            <a:ext cx="3515258" cy="2194560"/>
          </a:xfrm>
          <a:prstGeom prst="roundRect">
            <a:avLst>
              <a:gd name="adj" fmla="val 5000"/>
            </a:avLst>
          </a:prstGeom>
          <a:solidFill>
            <a:schemeClr val="bg2"/>
          </a:solidFill>
          <a:ln/>
        </p:spPr>
        <p:txBody>
          <a:bodyPr/>
          <a:p/>
        </p:txBody>
      </p:sp>
      <p:sp>
        <p:nvSpPr>
          <p:cNvPr id="24" name="FaCodeBranch circle"/>
          <p:cNvSpPr/>
          <p:nvPr/>
        </p:nvSpPr>
        <p:spPr>
          <a:xfrm>
            <a:off x="8402117" y="4206240"/>
            <a:ext cx="685800" cy="685800"/>
          </a:xfrm>
          <a:prstGeom prst="ellipse">
            <a:avLst/>
          </a:prstGeom>
          <a:solidFill>
            <a:schemeClr val="accent1"/>
          </a:solidFill>
          <a:ln/>
        </p:spPr>
        <p:txBody>
          <a:bodyPr/>
          <a:p/>
        </p:txBody>
      </p:sp>
      <p:pic>
        <p:nvPicPr>
          <p:cNvPr id="25" name="FaCodeBranch icon" descr="preencoded.png">    </p:cNvPr>
          <p:cNvPicPr>
            <a:picLocks noChangeAspect="1"/>
          </p:cNvPicPr>
          <p:nvPr/>
        </p:nvPicPr>
        <p:blipFill>
          <a:blip r:embed="rId6"/>
          <a:stretch>
            <a:fillRect/>
          </a:stretch>
        </p:blipFill>
        <p:spPr>
          <a:xfrm>
            <a:off x="8566709" y="4370832"/>
            <a:ext cx="356616" cy="356616"/>
          </a:xfrm>
          <a:prstGeom prst="rect">
            <a:avLst/>
          </a:prstGeom>
        </p:spPr>
      </p:pic>
      <p:sp>
        <p:nvSpPr>
          <p:cNvPr id="26" name="Git and GitHub text"/>
          <p:cNvSpPr txBox="1"/>
          <p:nvPr/>
        </p:nvSpPr>
        <p:spPr>
          <a:xfrm>
            <a:off x="8402117" y="5029200"/>
            <a:ext cx="2966618" cy="9601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GitHub repository
messi847383-source/vaultx-Password-Manager
Source sharing and version control</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Architecture or workflow</a:t>
            </a:r>
            <a:endParaRPr lang="en-US" sz="3600" dirty="0"/>
          </a:p>
        </p:txBody>
      </p:sp>
      <p:sp>
        <p:nvSpPr>
          <p:cNvPr id="3" name="Step 1 box"/>
          <p:cNvSpPr/>
          <p:nvPr/>
        </p:nvSpPr>
        <p:spPr>
          <a:xfrm>
            <a:off x="548640" y="1645920"/>
            <a:ext cx="1779971" cy="2286000"/>
          </a:xfrm>
          <a:prstGeom prst="roundRect">
            <a:avLst>
              <a:gd name="adj" fmla="val 6165"/>
            </a:avLst>
          </a:prstGeom>
          <a:solidFill>
            <a:schemeClr val="tx1"/>
          </a:solidFill>
          <a:ln/>
        </p:spPr>
        <p:txBody>
          <a:bodyPr/>
          <a:p/>
        </p:txBody>
      </p:sp>
      <p:sp>
        <p:nvSpPr>
          <p:cNvPr id="4" name="FaUser circle"/>
          <p:cNvSpPr/>
          <p:nvPr/>
        </p:nvSpPr>
        <p:spPr>
          <a:xfrm>
            <a:off x="1118586" y="1874520"/>
            <a:ext cx="640080" cy="640080"/>
          </a:xfrm>
          <a:prstGeom prst="ellipse">
            <a:avLst/>
          </a:prstGeom>
          <a:solidFill>
            <a:schemeClr val="accent2"/>
          </a:solidFill>
          <a:ln/>
        </p:spPr>
        <p:txBody>
          <a:bodyPr/>
          <a:p/>
        </p:txBody>
      </p:sp>
      <p:pic>
        <p:nvPicPr>
          <p:cNvPr id="5" name="FaUser icon" descr="preencoded.png">    </p:cNvPr>
          <p:cNvPicPr>
            <a:picLocks noChangeAspect="1"/>
          </p:cNvPicPr>
          <p:nvPr/>
        </p:nvPicPr>
        <p:blipFill>
          <a:blip r:embed="rId1"/>
          <a:stretch>
            <a:fillRect/>
          </a:stretch>
        </p:blipFill>
        <p:spPr>
          <a:xfrm>
            <a:off x="1272205" y="2028139"/>
            <a:ext cx="332842" cy="332842"/>
          </a:xfrm>
          <a:prstGeom prst="rect">
            <a:avLst/>
          </a:prstGeom>
        </p:spPr>
      </p:pic>
      <p:sp>
        <p:nvSpPr>
          <p:cNvPr id="6" name="Step 1 text"/>
          <p:cNvSpPr txBox="1"/>
          <p:nvPr/>
        </p:nvSpPr>
        <p:spPr>
          <a:xfrm>
            <a:off x="685800" y="2651760"/>
            <a:ext cx="1505651" cy="1188720"/>
          </a:xfrm>
          <a:prstGeom prst="rect">
            <a:avLst/>
          </a:prstGeom>
          <a:noFill/>
          <a:ln/>
        </p:spPr>
        <p:txBody>
          <a:bodyPr wrap="square" lIns="54864" tIns="27432" rIns="54864" bIns="27432" rtlCol="0" anchor="ctr"/>
          <a:lstStyle/>
          <a:p>
            <a:pPr algn="ctr" indent="0" marL="0">
              <a:buNone/>
            </a:pPr>
            <a:r>
              <a:rPr sz="1300" b="0">
                <a:solidFill>
                  <a:srgbClr val="232737"/>
                </a:solidFill>
                <a:latin typeface="Aptos"/>
              </a:rPr>
              <a:t>User input
Master password and credential form</a:t>
            </a:r>
            <a:endParaRPr lang="en-US" sz="1600" dirty="0"/>
          </a:p>
        </p:txBody>
      </p:sp>
      <p:sp>
        <p:nvSpPr>
          <p:cNvPr id="7" name="Arrow 1"/>
          <p:cNvSpPr/>
          <p:nvPr/>
        </p:nvSpPr>
        <p:spPr>
          <a:xfrm>
            <a:off x="2438339" y="2606040"/>
            <a:ext cx="329184" cy="365760"/>
          </a:xfrm>
          <a:prstGeom prst="rightArrow">
            <a:avLst/>
          </a:prstGeom>
          <a:solidFill>
            <a:schemeClr val="accent1"/>
          </a:solidFill>
          <a:ln/>
        </p:spPr>
        <p:txBody>
          <a:bodyPr/>
          <a:p/>
        </p:txBody>
      </p:sp>
      <p:sp>
        <p:nvSpPr>
          <p:cNvPr id="8" name="Step 2 box"/>
          <p:cNvSpPr/>
          <p:nvPr/>
        </p:nvSpPr>
        <p:spPr>
          <a:xfrm>
            <a:off x="2877251" y="1645920"/>
            <a:ext cx="1779971" cy="2286000"/>
          </a:xfrm>
          <a:prstGeom prst="roundRect">
            <a:avLst>
              <a:gd name="adj" fmla="val 6165"/>
            </a:avLst>
          </a:prstGeom>
          <a:solidFill>
            <a:schemeClr val="bg2"/>
          </a:solidFill>
          <a:ln/>
        </p:spPr>
        <p:txBody>
          <a:bodyPr/>
          <a:p/>
        </p:txBody>
      </p:sp>
      <p:sp>
        <p:nvSpPr>
          <p:cNvPr id="9" name="FaDesktop circle"/>
          <p:cNvSpPr/>
          <p:nvPr/>
        </p:nvSpPr>
        <p:spPr>
          <a:xfrm>
            <a:off x="3447197" y="1874520"/>
            <a:ext cx="640080" cy="640080"/>
          </a:xfrm>
          <a:prstGeom prst="ellipse">
            <a:avLst/>
          </a:prstGeom>
          <a:solidFill>
            <a:schemeClr val="accent1"/>
          </a:solidFill>
          <a:ln/>
        </p:spPr>
        <p:txBody>
          <a:bodyPr/>
          <a:p/>
        </p:txBody>
      </p:sp>
      <p:pic>
        <p:nvPicPr>
          <p:cNvPr id="10" name="FaDesktop icon" descr="preencoded.png">    </p:cNvPr>
          <p:cNvPicPr>
            <a:picLocks noChangeAspect="1"/>
          </p:cNvPicPr>
          <p:nvPr/>
        </p:nvPicPr>
        <p:blipFill>
          <a:blip r:embed="rId2"/>
          <a:stretch>
            <a:fillRect/>
          </a:stretch>
        </p:blipFill>
        <p:spPr>
          <a:xfrm>
            <a:off x="3600816" y="2028139"/>
            <a:ext cx="332842" cy="332842"/>
          </a:xfrm>
          <a:prstGeom prst="rect">
            <a:avLst/>
          </a:prstGeom>
        </p:spPr>
      </p:pic>
      <p:sp>
        <p:nvSpPr>
          <p:cNvPr id="11" name="Step 2 text"/>
          <p:cNvSpPr txBox="1"/>
          <p:nvPr/>
        </p:nvSpPr>
        <p:spPr>
          <a:xfrm>
            <a:off x="3014411" y="2651760"/>
            <a:ext cx="1505651" cy="1188720"/>
          </a:xfrm>
          <a:prstGeom prst="rect">
            <a:avLst/>
          </a:prstGeom>
          <a:noFill/>
          <a:ln/>
        </p:spPr>
        <p:txBody>
          <a:bodyPr wrap="square" lIns="54864" tIns="27432" rIns="54864" bIns="27432" rtlCol="0" anchor="ctr"/>
          <a:lstStyle/>
          <a:p>
            <a:pPr algn="ctr" indent="0" marL="0">
              <a:buNone/>
            </a:pPr>
            <a:r>
              <a:rPr sz="1300" b="0">
                <a:solidFill>
                  <a:srgbClr val="232737"/>
                </a:solidFill>
                <a:latin typeface="Aptos"/>
              </a:rPr>
              <a:t>Browser UI
Flask HTML templates</a:t>
            </a:r>
            <a:endParaRPr lang="en-US" sz="1600" dirty="0"/>
          </a:p>
        </p:txBody>
      </p:sp>
      <p:sp>
        <p:nvSpPr>
          <p:cNvPr id="12" name="Arrow 2"/>
          <p:cNvSpPr/>
          <p:nvPr/>
        </p:nvSpPr>
        <p:spPr>
          <a:xfrm>
            <a:off x="4766950" y="2606040"/>
            <a:ext cx="329184" cy="365760"/>
          </a:xfrm>
          <a:prstGeom prst="rightArrow">
            <a:avLst/>
          </a:prstGeom>
          <a:solidFill>
            <a:schemeClr val="accent1"/>
          </a:solidFill>
          <a:ln/>
        </p:spPr>
        <p:txBody>
          <a:bodyPr/>
          <a:p/>
        </p:txBody>
      </p:sp>
      <p:sp>
        <p:nvSpPr>
          <p:cNvPr id="13" name="Step 3 box"/>
          <p:cNvSpPr/>
          <p:nvPr/>
        </p:nvSpPr>
        <p:spPr>
          <a:xfrm>
            <a:off x="5205862" y="1645920"/>
            <a:ext cx="1779971" cy="2286000"/>
          </a:xfrm>
          <a:prstGeom prst="roundRect">
            <a:avLst>
              <a:gd name="adj" fmla="val 6165"/>
            </a:avLst>
          </a:prstGeom>
          <a:solidFill>
            <a:schemeClr val="bg2"/>
          </a:solidFill>
          <a:ln/>
        </p:spPr>
        <p:txBody>
          <a:bodyPr/>
          <a:p/>
        </p:txBody>
      </p:sp>
      <p:sp>
        <p:nvSpPr>
          <p:cNvPr id="14" name="FaCogs circle"/>
          <p:cNvSpPr/>
          <p:nvPr/>
        </p:nvSpPr>
        <p:spPr>
          <a:xfrm>
            <a:off x="5775808" y="1874520"/>
            <a:ext cx="640080" cy="640080"/>
          </a:xfrm>
          <a:prstGeom prst="ellipse">
            <a:avLst/>
          </a:prstGeom>
          <a:solidFill>
            <a:schemeClr val="accent1"/>
          </a:solidFill>
          <a:ln/>
        </p:spPr>
        <p:txBody>
          <a:bodyPr/>
          <a:p/>
        </p:txBody>
      </p:sp>
      <p:pic>
        <p:nvPicPr>
          <p:cNvPr id="15" name="FaCogs icon" descr="preencoded.png">    </p:cNvPr>
          <p:cNvPicPr>
            <a:picLocks noChangeAspect="1"/>
          </p:cNvPicPr>
          <p:nvPr/>
        </p:nvPicPr>
        <p:blipFill>
          <a:blip r:embed="rId3"/>
          <a:stretch>
            <a:fillRect/>
          </a:stretch>
        </p:blipFill>
        <p:spPr>
          <a:xfrm>
            <a:off x="5929427" y="2028139"/>
            <a:ext cx="332842" cy="332842"/>
          </a:xfrm>
          <a:prstGeom prst="rect">
            <a:avLst/>
          </a:prstGeom>
        </p:spPr>
      </p:pic>
      <p:sp>
        <p:nvSpPr>
          <p:cNvPr id="16" name="Step 3 text"/>
          <p:cNvSpPr txBox="1"/>
          <p:nvPr/>
        </p:nvSpPr>
        <p:spPr>
          <a:xfrm>
            <a:off x="5343022" y="2651760"/>
            <a:ext cx="1505651" cy="1188720"/>
          </a:xfrm>
          <a:prstGeom prst="rect">
            <a:avLst/>
          </a:prstGeom>
          <a:noFill/>
          <a:ln/>
        </p:spPr>
        <p:txBody>
          <a:bodyPr wrap="square" lIns="54864" tIns="27432" rIns="54864" bIns="27432" rtlCol="0" anchor="ctr"/>
          <a:lstStyle/>
          <a:p>
            <a:pPr algn="ctr" indent="0" marL="0">
              <a:buNone/>
            </a:pPr>
            <a:r>
              <a:rPr sz="1300" b="0">
                <a:solidFill>
                  <a:srgbClr val="232737"/>
                </a:solidFill>
                <a:latin typeface="Aptos"/>
              </a:rPr>
              <a:t>Python logic
Authentication, validation and CRUD</a:t>
            </a:r>
            <a:endParaRPr lang="en-US" sz="1600" dirty="0"/>
          </a:p>
        </p:txBody>
      </p:sp>
      <p:sp>
        <p:nvSpPr>
          <p:cNvPr id="17" name="Arrow 3"/>
          <p:cNvSpPr/>
          <p:nvPr/>
        </p:nvSpPr>
        <p:spPr>
          <a:xfrm>
            <a:off x="7095561" y="2606040"/>
            <a:ext cx="329184" cy="365760"/>
          </a:xfrm>
          <a:prstGeom prst="rightArrow">
            <a:avLst/>
          </a:prstGeom>
          <a:solidFill>
            <a:schemeClr val="accent1"/>
          </a:solidFill>
          <a:ln/>
        </p:spPr>
        <p:txBody>
          <a:bodyPr/>
          <a:p/>
        </p:txBody>
      </p:sp>
      <p:sp>
        <p:nvSpPr>
          <p:cNvPr id="18" name="Step 4 box"/>
          <p:cNvSpPr/>
          <p:nvPr/>
        </p:nvSpPr>
        <p:spPr>
          <a:xfrm>
            <a:off x="7534473" y="1645920"/>
            <a:ext cx="1779971" cy="2286000"/>
          </a:xfrm>
          <a:prstGeom prst="roundRect">
            <a:avLst>
              <a:gd name="adj" fmla="val 6165"/>
            </a:avLst>
          </a:prstGeom>
          <a:solidFill>
            <a:schemeClr val="bg2"/>
          </a:solidFill>
          <a:ln/>
        </p:spPr>
        <p:txBody>
          <a:bodyPr/>
          <a:p/>
        </p:txBody>
      </p:sp>
      <p:sp>
        <p:nvSpPr>
          <p:cNvPr id="19" name="FaDatabase circle"/>
          <p:cNvSpPr/>
          <p:nvPr/>
        </p:nvSpPr>
        <p:spPr>
          <a:xfrm>
            <a:off x="8104419" y="1874520"/>
            <a:ext cx="640080" cy="640080"/>
          </a:xfrm>
          <a:prstGeom prst="ellipse">
            <a:avLst/>
          </a:prstGeom>
          <a:solidFill>
            <a:schemeClr val="accent1"/>
          </a:solidFill>
          <a:ln/>
        </p:spPr>
        <p:txBody>
          <a:bodyPr/>
          <a:p/>
        </p:txBody>
      </p:sp>
      <p:pic>
        <p:nvPicPr>
          <p:cNvPr id="20" name="FaDatabase icon" descr="preencoded.png">    </p:cNvPr>
          <p:cNvPicPr>
            <a:picLocks noChangeAspect="1"/>
          </p:cNvPicPr>
          <p:nvPr/>
        </p:nvPicPr>
        <p:blipFill>
          <a:blip r:embed="rId4"/>
          <a:stretch>
            <a:fillRect/>
          </a:stretch>
        </p:blipFill>
        <p:spPr>
          <a:xfrm>
            <a:off x="8258038" y="2028139"/>
            <a:ext cx="332842" cy="332842"/>
          </a:xfrm>
          <a:prstGeom prst="rect">
            <a:avLst/>
          </a:prstGeom>
        </p:spPr>
      </p:pic>
      <p:sp>
        <p:nvSpPr>
          <p:cNvPr id="21" name="Step 4 text"/>
          <p:cNvSpPr txBox="1"/>
          <p:nvPr/>
        </p:nvSpPr>
        <p:spPr>
          <a:xfrm>
            <a:off x="7671633" y="2651760"/>
            <a:ext cx="1505651" cy="1188720"/>
          </a:xfrm>
          <a:prstGeom prst="rect">
            <a:avLst/>
          </a:prstGeom>
          <a:noFill/>
          <a:ln/>
        </p:spPr>
        <p:txBody>
          <a:bodyPr wrap="square" lIns="54864" tIns="27432" rIns="54864" bIns="27432" rtlCol="0" anchor="ctr"/>
          <a:lstStyle/>
          <a:p>
            <a:pPr algn="ctr" indent="0" marL="0">
              <a:buNone/>
            </a:pPr>
            <a:r>
              <a:rPr sz="1300" b="0">
                <a:solidFill>
                  <a:srgbClr val="232737"/>
                </a:solidFill>
                <a:latin typeface="Aptos"/>
              </a:rPr>
              <a:t>SQLite + encryption
Local database stores encrypted secrets</a:t>
            </a:r>
            <a:endParaRPr lang="en-US" sz="1600" dirty="0"/>
          </a:p>
        </p:txBody>
      </p:sp>
      <p:sp>
        <p:nvSpPr>
          <p:cNvPr id="22" name="Arrow 4"/>
          <p:cNvSpPr/>
          <p:nvPr/>
        </p:nvSpPr>
        <p:spPr>
          <a:xfrm>
            <a:off x="9424172" y="2606040"/>
            <a:ext cx="329184" cy="365760"/>
          </a:xfrm>
          <a:prstGeom prst="rightArrow">
            <a:avLst/>
          </a:prstGeom>
          <a:solidFill>
            <a:schemeClr val="accent1"/>
          </a:solidFill>
          <a:ln/>
        </p:spPr>
        <p:txBody>
          <a:bodyPr/>
          <a:p/>
        </p:txBody>
      </p:sp>
      <p:sp>
        <p:nvSpPr>
          <p:cNvPr id="23" name="Step 5 box"/>
          <p:cNvSpPr/>
          <p:nvPr/>
        </p:nvSpPr>
        <p:spPr>
          <a:xfrm>
            <a:off x="9863084" y="1645920"/>
            <a:ext cx="1779971" cy="2286000"/>
          </a:xfrm>
          <a:prstGeom prst="roundRect">
            <a:avLst>
              <a:gd name="adj" fmla="val 6165"/>
            </a:avLst>
          </a:prstGeom>
          <a:solidFill>
            <a:schemeClr val="tx1"/>
          </a:solidFill>
          <a:ln/>
        </p:spPr>
        <p:txBody>
          <a:bodyPr/>
          <a:p/>
        </p:txBody>
      </p:sp>
      <p:sp>
        <p:nvSpPr>
          <p:cNvPr id="24" name="FaChartBar circle"/>
          <p:cNvSpPr/>
          <p:nvPr/>
        </p:nvSpPr>
        <p:spPr>
          <a:xfrm>
            <a:off x="10433030" y="1874520"/>
            <a:ext cx="640080" cy="640080"/>
          </a:xfrm>
          <a:prstGeom prst="ellipse">
            <a:avLst/>
          </a:prstGeom>
          <a:solidFill>
            <a:schemeClr val="accent2"/>
          </a:solidFill>
          <a:ln/>
        </p:spPr>
        <p:txBody>
          <a:bodyPr/>
          <a:p/>
        </p:txBody>
      </p:sp>
      <p:pic>
        <p:nvPicPr>
          <p:cNvPr id="25" name="FaChartBar icon" descr="preencoded.png">    </p:cNvPr>
          <p:cNvPicPr>
            <a:picLocks noChangeAspect="1"/>
          </p:cNvPicPr>
          <p:nvPr/>
        </p:nvPicPr>
        <p:blipFill>
          <a:blip r:embed="rId5"/>
          <a:stretch>
            <a:fillRect/>
          </a:stretch>
        </p:blipFill>
        <p:spPr>
          <a:xfrm>
            <a:off x="10586649" y="2028139"/>
            <a:ext cx="332842" cy="332842"/>
          </a:xfrm>
          <a:prstGeom prst="rect">
            <a:avLst/>
          </a:prstGeom>
        </p:spPr>
      </p:pic>
      <p:sp>
        <p:nvSpPr>
          <p:cNvPr id="26" name="Step 5 text"/>
          <p:cNvSpPr txBox="1"/>
          <p:nvPr/>
        </p:nvSpPr>
        <p:spPr>
          <a:xfrm>
            <a:off x="10000244" y="2651760"/>
            <a:ext cx="1505651" cy="1188720"/>
          </a:xfrm>
          <a:prstGeom prst="rect">
            <a:avLst/>
          </a:prstGeom>
          <a:noFill/>
          <a:ln/>
        </p:spPr>
        <p:txBody>
          <a:bodyPr wrap="square" lIns="54864" tIns="27432" rIns="54864" bIns="27432" rtlCol="0" anchor="ctr"/>
          <a:lstStyle/>
          <a:p>
            <a:pPr algn="ctr" indent="0" marL="0">
              <a:buNone/>
            </a:pPr>
            <a:r>
              <a:rPr sz="1300" b="0">
                <a:solidFill>
                  <a:srgbClr val="232737"/>
                </a:solidFill>
                <a:latin typeface="Aptos"/>
              </a:rPr>
              <a:t>Dashboard
Updated list and status messages</a:t>
            </a:r>
            <a:endParaRPr lang="en-US" sz="1600" dirty="0"/>
          </a:p>
        </p:txBody>
      </p:sp>
      <p:sp>
        <p:nvSpPr>
          <p:cNvPr id="27" name="How it works card"/>
          <p:cNvSpPr/>
          <p:nvPr/>
        </p:nvSpPr>
        <p:spPr>
          <a:xfrm>
            <a:off x="548640" y="4206240"/>
            <a:ext cx="11094415" cy="1920240"/>
          </a:xfrm>
          <a:prstGeom prst="roundRect">
            <a:avLst>
              <a:gd name="adj" fmla="val 5714"/>
            </a:avLst>
          </a:prstGeom>
          <a:solidFill>
            <a:schemeClr val="bg2"/>
          </a:solidFill>
          <a:ln/>
        </p:spPr>
        <p:txBody>
          <a:bodyPr/>
          <a:p/>
        </p:txBody>
      </p:sp>
      <p:sp>
        <p:nvSpPr>
          <p:cNvPr id="28" name="Text 21"/>
          <p:cNvSpPr txBox="1"/>
          <p:nvPr/>
        </p:nvSpPr>
        <p:spPr>
          <a:xfrm>
            <a:off x="914400" y="4480560"/>
            <a:ext cx="4572000" cy="365760"/>
          </a:xfrm>
          <a:prstGeom prst="rect">
            <a:avLst/>
          </a:prstGeom>
          <a:noFill/>
          <a:ln/>
        </p:spPr>
        <p:txBody>
          <a:bodyPr wrap="square" lIns="0" tIns="0" rIns="0" bIns="0" rtlCol="0" anchor="t"/>
          <a:lstStyle/>
          <a:p>
            <a:pPr indent="0" marL="0">
              <a:buNone/>
            </a:pPr>
            <a:r>
              <a:rPr lang="en-US" sz="1400" b="1" spc="100" kern="0" dirty="0">
                <a:solidFill>
                  <a:schemeClr val="accent1"/>
                </a:solidFill>
              </a:rPr>
              <a:t>HOW IT WORKS</a:t>
            </a:r>
            <a:endParaRPr lang="en-US" sz="1400" dirty="0"/>
          </a:p>
        </p:txBody>
      </p:sp>
      <p:sp>
        <p:nvSpPr>
          <p:cNvPr id="29" name="Text 22"/>
          <p:cNvSpPr txBox="1"/>
          <p:nvPr/>
        </p:nvSpPr>
        <p:spPr>
          <a:xfrm>
            <a:off x="914400" y="4892040"/>
            <a:ext cx="10362895" cy="1005840"/>
          </a:xfrm>
          <a:prstGeom prst="rect">
            <a:avLst/>
          </a:prstGeom>
          <a:noFill/>
          <a:ln/>
        </p:spPr>
        <p:txBody>
          <a:bodyPr wrap="square" lIns="73152" tIns="36576" rIns="73152" bIns="36576" rtlCol="0" anchor="ctr"/>
          <a:lstStyle/>
          <a:p>
            <a:pPr indent="0" marL="0">
              <a:buNone/>
            </a:pPr>
            <a:r>
              <a:rPr sz="1300" b="0">
                <a:solidFill>
                  <a:srgbClr val="232737"/>
                </a:solidFill>
                <a:latin typeface="Aptos"/>
              </a:rPr>
              <a:t>The user interacts with the local browser interface. Flask routes handle setup/login and credential actions, apply validation and security logic, and read or write the local SQLite database. Sensitive credential fields are encrypted before storage and decrypted only in the authenticated reveal flow.</a:t>
            </a:r>
            <a:endParaRPr lang="en-US" sz="18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Features and modules</a:t>
            </a:r>
            <a:endParaRPr lang="en-US" sz="3600" dirty="0"/>
          </a:p>
        </p:txBody>
      </p:sp>
      <p:sp>
        <p:nvSpPr>
          <p:cNvPr id="3" name="Alternative tag (delete before presenting)"/>
          <p:cNvSpPr txBox="1"/>
          <p:nvPr/>
        </p:nvSpPr>
        <p:spPr>
          <a:xfrm>
            <a:off x="9448495" y="987552"/>
            <a:ext cx="2194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FOR APPLICATIONS</a:t>
            </a:r>
            <a:endParaRPr lang="en-US" sz="1200" dirty="0"/>
          </a:p>
        </p:txBody>
      </p:sp>
      <p:sp>
        <p:nvSpPr>
          <p:cNvPr id="4" name="Feature 1 card"/>
          <p:cNvSpPr/>
          <p:nvPr/>
        </p:nvSpPr>
        <p:spPr>
          <a:xfrm>
            <a:off x="548640" y="1463040"/>
            <a:ext cx="3429000" cy="2194560"/>
          </a:xfrm>
          <a:prstGeom prst="roundRect">
            <a:avLst>
              <a:gd name="adj" fmla="val 5000"/>
            </a:avLst>
          </a:prstGeom>
          <a:solidFill>
            <a:schemeClr val="bg2"/>
          </a:solidFill>
          <a:ln/>
        </p:spPr>
        <p:txBody>
          <a:bodyPr/>
          <a:p/>
        </p:txBody>
      </p:sp>
      <p:sp>
        <p:nvSpPr>
          <p:cNvPr id="5" name="Number 1"/>
          <p:cNvSpPr txBox="1"/>
          <p:nvPr/>
        </p:nvSpPr>
        <p:spPr>
          <a:xfrm>
            <a:off x="822960" y="173736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417320" y="1737360"/>
            <a:ext cx="2331720" cy="457200"/>
          </a:xfrm>
          <a:prstGeom prst="rect">
            <a:avLst/>
          </a:prstGeom>
          <a:noFill/>
          <a:ln/>
        </p:spPr>
        <p:txBody>
          <a:bodyPr wrap="square" lIns="54864" tIns="27432" rIns="54864" bIns="27432" rtlCol="0" anchor="ctr"/>
          <a:lstStyle/>
          <a:p>
            <a:pPr indent="0" marL="0">
              <a:buNone/>
            </a:pPr>
            <a:r>
              <a:rPr sz="1300" b="0">
                <a:solidFill>
                  <a:srgbClr val="232737"/>
                </a:solidFill>
                <a:latin typeface="Aptos"/>
              </a:rPr>
              <a:t>Credential vault</a:t>
            </a:r>
            <a:endParaRPr lang="en-US" sz="2000" dirty="0"/>
          </a:p>
        </p:txBody>
      </p:sp>
      <p:sp>
        <p:nvSpPr>
          <p:cNvPr id="7" name="Text 5"/>
          <p:cNvSpPr txBox="1"/>
          <p:nvPr/>
        </p:nvSpPr>
        <p:spPr>
          <a:xfrm>
            <a:off x="822960" y="2377440"/>
            <a:ext cx="2880360" cy="777240"/>
          </a:xfrm>
          <a:prstGeom prst="rect">
            <a:avLst/>
          </a:prstGeom>
          <a:noFill/>
          <a:ln/>
        </p:spPr>
        <p:txBody>
          <a:bodyPr wrap="square" lIns="64008" tIns="36576" rIns="64008" bIns="36576" rtlCol="0" anchor="ctr"/>
          <a:lstStyle/>
          <a:p>
            <a:pPr indent="0" marL="0">
              <a:buNone/>
            </a:pPr>
            <a:r>
              <a:rPr sz="1200" b="0">
                <a:solidFill>
                  <a:srgbClr val="232737"/>
                </a:solidFill>
                <a:latin typeface="Aptos"/>
              </a:rPr>
              <a:t>Save service, username and password details.</a:t>
            </a:r>
            <a:endParaRPr lang="en-US" sz="1600" dirty="0"/>
          </a:p>
        </p:txBody>
      </p:sp>
      <p:sp>
        <p:nvSpPr>
          <p:cNvPr id="8" name="Text 6"/>
          <p:cNvSpPr txBox="1"/>
          <p:nvPr/>
        </p:nvSpPr>
        <p:spPr>
          <a:xfrm>
            <a:off x="822960" y="3200400"/>
            <a:ext cx="2880360" cy="3200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app.py</a:t>
            </a:r>
            <a:endParaRPr lang="en-US" sz="1400" dirty="0"/>
          </a:p>
        </p:txBody>
      </p:sp>
      <p:sp>
        <p:nvSpPr>
          <p:cNvPr id="9" name="Feature 2 card"/>
          <p:cNvSpPr/>
          <p:nvPr/>
        </p:nvSpPr>
        <p:spPr>
          <a:xfrm>
            <a:off x="4251960" y="1463040"/>
            <a:ext cx="3429000" cy="2194560"/>
          </a:xfrm>
          <a:prstGeom prst="roundRect">
            <a:avLst>
              <a:gd name="adj" fmla="val 5000"/>
            </a:avLst>
          </a:prstGeom>
          <a:solidFill>
            <a:schemeClr val="bg2"/>
          </a:solidFill>
          <a:ln/>
        </p:spPr>
        <p:txBody>
          <a:bodyPr/>
          <a:p/>
        </p:txBody>
      </p:sp>
      <p:sp>
        <p:nvSpPr>
          <p:cNvPr id="10" name="Number 2"/>
          <p:cNvSpPr txBox="1"/>
          <p:nvPr/>
        </p:nvSpPr>
        <p:spPr>
          <a:xfrm>
            <a:off x="4526280" y="173736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9"/>
          <p:cNvSpPr txBox="1"/>
          <p:nvPr/>
        </p:nvSpPr>
        <p:spPr>
          <a:xfrm>
            <a:off x="5120640" y="1737360"/>
            <a:ext cx="2331720" cy="457200"/>
          </a:xfrm>
          <a:prstGeom prst="rect">
            <a:avLst/>
          </a:prstGeom>
          <a:noFill/>
          <a:ln/>
        </p:spPr>
        <p:txBody>
          <a:bodyPr wrap="square" lIns="54864" tIns="27432" rIns="54864" bIns="27432" rtlCol="0" anchor="ctr"/>
          <a:lstStyle/>
          <a:p>
            <a:pPr indent="0" marL="0">
              <a:buNone/>
            </a:pPr>
            <a:r>
              <a:rPr sz="1300" b="0">
                <a:solidFill>
                  <a:srgbClr val="232737"/>
                </a:solidFill>
                <a:latin typeface="Aptos"/>
              </a:rPr>
              <a:t>Search &amp; manage</a:t>
            </a:r>
            <a:endParaRPr lang="en-US" sz="2000" dirty="0"/>
          </a:p>
        </p:txBody>
      </p:sp>
      <p:sp>
        <p:nvSpPr>
          <p:cNvPr id="12" name="Text 10"/>
          <p:cNvSpPr txBox="1"/>
          <p:nvPr/>
        </p:nvSpPr>
        <p:spPr>
          <a:xfrm>
            <a:off x="4526280" y="2377440"/>
            <a:ext cx="2880360" cy="777240"/>
          </a:xfrm>
          <a:prstGeom prst="rect">
            <a:avLst/>
          </a:prstGeom>
          <a:noFill/>
          <a:ln/>
        </p:spPr>
        <p:txBody>
          <a:bodyPr wrap="square" lIns="64008" tIns="36576" rIns="64008" bIns="36576" rtlCol="0" anchor="ctr"/>
          <a:lstStyle/>
          <a:p>
            <a:pPr indent="0" marL="0">
              <a:buNone/>
            </a:pPr>
            <a:r>
              <a:rPr sz="1200" b="0">
                <a:solidFill>
                  <a:srgbClr val="232737"/>
                </a:solidFill>
                <a:latin typeface="Aptos"/>
              </a:rPr>
              <a:t>Search, reveal/hide, copy, edit and delete entries.</a:t>
            </a:r>
            <a:endParaRPr lang="en-US" sz="1600" dirty="0"/>
          </a:p>
        </p:txBody>
      </p:sp>
      <p:sp>
        <p:nvSpPr>
          <p:cNvPr id="13" name="Text 11"/>
          <p:cNvSpPr txBox="1"/>
          <p:nvPr/>
        </p:nvSpPr>
        <p:spPr>
          <a:xfrm>
            <a:off x="4526280" y="3200400"/>
            <a:ext cx="2880360" cy="3200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app.py</a:t>
            </a:r>
            <a:endParaRPr lang="en-US" sz="1400" dirty="0"/>
          </a:p>
        </p:txBody>
      </p:sp>
      <p:sp>
        <p:nvSpPr>
          <p:cNvPr id="14" name="Feature 3 card"/>
          <p:cNvSpPr/>
          <p:nvPr/>
        </p:nvSpPr>
        <p:spPr>
          <a:xfrm>
            <a:off x="548640" y="3931920"/>
            <a:ext cx="3429000" cy="2194560"/>
          </a:xfrm>
          <a:prstGeom prst="roundRect">
            <a:avLst>
              <a:gd name="adj" fmla="val 5000"/>
            </a:avLst>
          </a:prstGeom>
          <a:solidFill>
            <a:schemeClr val="bg2"/>
          </a:solidFill>
          <a:ln/>
        </p:spPr>
        <p:txBody>
          <a:bodyPr/>
          <a:p/>
        </p:txBody>
      </p:sp>
      <p:sp>
        <p:nvSpPr>
          <p:cNvPr id="15" name="Number 3"/>
          <p:cNvSpPr txBox="1"/>
          <p:nvPr/>
        </p:nvSpPr>
        <p:spPr>
          <a:xfrm>
            <a:off x="822960" y="42062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Text 14"/>
          <p:cNvSpPr txBox="1"/>
          <p:nvPr/>
        </p:nvSpPr>
        <p:spPr>
          <a:xfrm>
            <a:off x="1417320" y="4206240"/>
            <a:ext cx="2331720" cy="457200"/>
          </a:xfrm>
          <a:prstGeom prst="rect">
            <a:avLst/>
          </a:prstGeom>
          <a:noFill/>
          <a:ln/>
        </p:spPr>
        <p:txBody>
          <a:bodyPr wrap="square" lIns="54864" tIns="27432" rIns="54864" bIns="27432" rtlCol="0" anchor="ctr"/>
          <a:lstStyle/>
          <a:p>
            <a:pPr indent="0" marL="0">
              <a:buNone/>
            </a:pPr>
            <a:r>
              <a:rPr sz="1300" b="0">
                <a:solidFill>
                  <a:srgbClr val="232737"/>
                </a:solidFill>
                <a:latin typeface="Aptos"/>
              </a:rPr>
              <a:t>Password generator</a:t>
            </a:r>
            <a:endParaRPr lang="en-US" sz="2000" dirty="0"/>
          </a:p>
        </p:txBody>
      </p:sp>
      <p:sp>
        <p:nvSpPr>
          <p:cNvPr id="17" name="Text 15"/>
          <p:cNvSpPr txBox="1"/>
          <p:nvPr/>
        </p:nvSpPr>
        <p:spPr>
          <a:xfrm>
            <a:off x="822960" y="4846320"/>
            <a:ext cx="2880360" cy="777240"/>
          </a:xfrm>
          <a:prstGeom prst="rect">
            <a:avLst/>
          </a:prstGeom>
          <a:noFill/>
          <a:ln/>
        </p:spPr>
        <p:txBody>
          <a:bodyPr wrap="square" lIns="64008" tIns="36576" rIns="64008" bIns="36576" rtlCol="0" anchor="ctr"/>
          <a:lstStyle/>
          <a:p>
            <a:pPr indent="0" marL="0">
              <a:buNone/>
            </a:pPr>
            <a:r>
              <a:rPr sz="1200" b="0">
                <a:solidFill>
                  <a:srgbClr val="232737"/>
                </a:solidFill>
                <a:latin typeface="Aptos"/>
              </a:rPr>
              <a:t>Generate a random password for account setup.</a:t>
            </a:r>
            <a:endParaRPr lang="en-US" sz="1600" dirty="0"/>
          </a:p>
        </p:txBody>
      </p:sp>
      <p:sp>
        <p:nvSpPr>
          <p:cNvPr id="18" name="Text 16"/>
          <p:cNvSpPr txBox="1"/>
          <p:nvPr/>
        </p:nvSpPr>
        <p:spPr>
          <a:xfrm>
            <a:off x="822960" y="5669280"/>
            <a:ext cx="2880360" cy="3200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app.py</a:t>
            </a:r>
            <a:endParaRPr lang="en-US" sz="1400" dirty="0"/>
          </a:p>
        </p:txBody>
      </p:sp>
      <p:sp>
        <p:nvSpPr>
          <p:cNvPr id="19" name="Feature 4 card"/>
          <p:cNvSpPr/>
          <p:nvPr/>
        </p:nvSpPr>
        <p:spPr>
          <a:xfrm>
            <a:off x="4251960" y="3931920"/>
            <a:ext cx="3429000" cy="2194560"/>
          </a:xfrm>
          <a:prstGeom prst="roundRect">
            <a:avLst>
              <a:gd name="adj" fmla="val 5000"/>
            </a:avLst>
          </a:prstGeom>
          <a:solidFill>
            <a:schemeClr val="bg2"/>
          </a:solidFill>
          <a:ln/>
        </p:spPr>
        <p:txBody>
          <a:bodyPr/>
          <a:p/>
        </p:txBody>
      </p:sp>
      <p:sp>
        <p:nvSpPr>
          <p:cNvPr id="20" name="Number 4"/>
          <p:cNvSpPr txBox="1"/>
          <p:nvPr/>
        </p:nvSpPr>
        <p:spPr>
          <a:xfrm>
            <a:off x="4526280" y="42062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1" name="Text 19"/>
          <p:cNvSpPr txBox="1"/>
          <p:nvPr/>
        </p:nvSpPr>
        <p:spPr>
          <a:xfrm>
            <a:off x="5120640" y="4206240"/>
            <a:ext cx="2331720" cy="457200"/>
          </a:xfrm>
          <a:prstGeom prst="rect">
            <a:avLst/>
          </a:prstGeom>
          <a:noFill/>
          <a:ln/>
        </p:spPr>
        <p:txBody>
          <a:bodyPr wrap="square" lIns="54864" tIns="27432" rIns="54864" bIns="27432" rtlCol="0" anchor="ctr"/>
          <a:lstStyle/>
          <a:p>
            <a:pPr indent="0" marL="0">
              <a:buNone/>
            </a:pPr>
            <a:r>
              <a:rPr sz="1300" b="0">
                <a:solidFill>
                  <a:srgbClr val="232737"/>
                </a:solidFill>
                <a:latin typeface="Aptos"/>
              </a:rPr>
              <a:t>Protected storage</a:t>
            </a:r>
            <a:endParaRPr lang="en-US" sz="2000" dirty="0"/>
          </a:p>
        </p:txBody>
      </p:sp>
      <p:sp>
        <p:nvSpPr>
          <p:cNvPr id="22" name="Text 20"/>
          <p:cNvSpPr txBox="1"/>
          <p:nvPr/>
        </p:nvSpPr>
        <p:spPr>
          <a:xfrm>
            <a:off x="4526280" y="4846320"/>
            <a:ext cx="2880360" cy="777240"/>
          </a:xfrm>
          <a:prstGeom prst="rect">
            <a:avLst/>
          </a:prstGeom>
          <a:noFill/>
          <a:ln/>
        </p:spPr>
        <p:txBody>
          <a:bodyPr wrap="square" lIns="64008" tIns="36576" rIns="64008" bIns="36576" rtlCol="0" anchor="ctr"/>
          <a:lstStyle/>
          <a:p>
            <a:pPr indent="0" marL="0">
              <a:buNone/>
            </a:pPr>
            <a:r>
              <a:rPr sz="1200" b="0">
                <a:solidFill>
                  <a:srgbClr val="232737"/>
                </a:solidFill>
                <a:latin typeface="Aptos"/>
              </a:rPr>
              <a:t>Hash the master password and encrypt saved secrets.</a:t>
            </a:r>
            <a:endParaRPr lang="en-US" sz="1600" dirty="0"/>
          </a:p>
        </p:txBody>
      </p:sp>
      <p:sp>
        <p:nvSpPr>
          <p:cNvPr id="23" name="Text 21"/>
          <p:cNvSpPr txBox="1"/>
          <p:nvPr/>
        </p:nvSpPr>
        <p:spPr>
          <a:xfrm>
            <a:off x="4526280" y="5669280"/>
            <a:ext cx="2880360" cy="3200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app.py</a:t>
            </a:r>
            <a:endParaRPr lang="en-US" sz="1400" dirty="0"/>
          </a:p>
        </p:txBody>
      </p:sp>
      <p:sp>
        <p:nvSpPr>
          <p:cNvPr id="24" name="Modules panel"/>
          <p:cNvSpPr/>
          <p:nvPr/>
        </p:nvSpPr>
        <p:spPr>
          <a:xfrm>
            <a:off x="7955280" y="1463040"/>
            <a:ext cx="3687775" cy="4663440"/>
          </a:xfrm>
          <a:prstGeom prst="roundRect">
            <a:avLst>
              <a:gd name="adj" fmla="val 2975"/>
            </a:avLst>
          </a:prstGeom>
          <a:solidFill>
            <a:schemeClr val="tx1"/>
          </a:solidFill>
          <a:ln/>
        </p:spPr>
        <p:txBody>
          <a:bodyPr/>
          <a:p/>
        </p:txBody>
      </p:sp>
      <p:sp>
        <p:nvSpPr>
          <p:cNvPr id="25" name="FaFolderOpen circle"/>
          <p:cNvSpPr/>
          <p:nvPr/>
        </p:nvSpPr>
        <p:spPr>
          <a:xfrm>
            <a:off x="8229600" y="1737360"/>
            <a:ext cx="548640" cy="548640"/>
          </a:xfrm>
          <a:prstGeom prst="ellipse">
            <a:avLst/>
          </a:prstGeom>
          <a:solidFill>
            <a:schemeClr val="accent1"/>
          </a:solidFill>
          <a:ln/>
        </p:spPr>
        <p:txBody>
          <a:bodyPr/>
          <a:p/>
        </p:txBody>
      </p:sp>
      <p:pic>
        <p:nvPicPr>
          <p:cNvPr id="26" name="FaFolderOpen icon" descr="preencoded.png">    </p:cNvPr>
          <p:cNvPicPr>
            <a:picLocks noChangeAspect="1"/>
          </p:cNvPicPr>
          <p:nvPr/>
        </p:nvPicPr>
        <p:blipFill>
          <a:blip r:embed="rId1"/>
          <a:stretch>
            <a:fillRect/>
          </a:stretch>
        </p:blipFill>
        <p:spPr>
          <a:xfrm>
            <a:off x="8361274" y="1869034"/>
            <a:ext cx="285293" cy="285293"/>
          </a:xfrm>
          <a:prstGeom prst="rect">
            <a:avLst/>
          </a:prstGeom>
        </p:spPr>
      </p:pic>
      <p:sp>
        <p:nvSpPr>
          <p:cNvPr id="27" name="Text 24"/>
          <p:cNvSpPr txBox="1"/>
          <p:nvPr/>
        </p:nvSpPr>
        <p:spPr>
          <a:xfrm>
            <a:off x="8915400" y="1737360"/>
            <a:ext cx="2499055" cy="548640"/>
          </a:xfrm>
          <a:prstGeom prst="rect">
            <a:avLst/>
          </a:prstGeom>
          <a:noFill/>
          <a:ln/>
        </p:spPr>
        <p:txBody>
          <a:bodyPr wrap="square" lIns="0" tIns="0" rIns="0" bIns="0" rtlCol="0" anchor="ctr"/>
          <a:lstStyle/>
          <a:p>
            <a:pPr indent="0" marL="0">
              <a:buNone/>
            </a:pPr>
            <a:r>
              <a:rPr lang="en-US" sz="2000" b="1" dirty="0">
                <a:solidFill>
                  <a:schemeClr val="bg1"/>
                </a:solidFill>
              </a:rPr>
              <a:t>Modules (files)</a:t>
            </a:r>
            <a:endParaRPr lang="en-US" sz="2000" dirty="0"/>
          </a:p>
        </p:txBody>
      </p:sp>
      <p:sp>
        <p:nvSpPr>
          <p:cNvPr id="28" name="Module list"/>
          <p:cNvSpPr txBox="1"/>
          <p:nvPr/>
        </p:nvSpPr>
        <p:spPr>
          <a:xfrm>
            <a:off x="8229600" y="2560320"/>
            <a:ext cx="3139135" cy="3337560"/>
          </a:xfrm>
          <a:prstGeom prst="rect">
            <a:avLst/>
          </a:prstGeom>
          <a:noFill/>
          <a:ln/>
        </p:spPr>
        <p:txBody>
          <a:bodyPr wrap="square" lIns="64008" tIns="36576" rIns="64008" bIns="36576" rtlCol="0" anchor="ctr"/>
          <a:lstStyle/>
          <a:p>
            <a:pPr indent="0" marL="0">
              <a:buNone/>
            </a:pPr>
            <a:r>
              <a:rPr sz="1100" b="0">
                <a:solidFill>
                  <a:srgbClr val="FFFFFF"/>
                </a:solidFill>
                <a:latin typeface="Aptos"/>
              </a:rPr>
              <a:t>app.py — Flask routes, authentication and credential actions
templates/setup.html, login.html, dashboard.html — user screens
static/style.css — interface styling
SQLite — local credential records</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User interface</a:t>
            </a:r>
            <a:endParaRPr lang="en-US" sz="3600" dirty="0"/>
          </a:p>
        </p:txBody>
      </p:sp>
      <p:sp>
        <p:nvSpPr>
          <p:cNvPr id="3" name="Alternative tag (delete before presenting)"/>
          <p:cNvSpPr txBox="1"/>
          <p:nvPr/>
        </p:nvSpPr>
        <p:spPr>
          <a:xfrm>
            <a:off x="9448495" y="987552"/>
            <a:ext cx="2194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FOR APPLICATIONS</a:t>
            </a:r>
            <a:endParaRPr lang="en-US" sz="1200" dirty="0"/>
          </a:p>
        </p:txBody>
      </p:sp>
      <p:sp>
        <p:nvSpPr>
          <p:cNvPr id="4" name="Screenshot placeholder"/>
          <p:cNvSpPr txBox="1"/>
          <p:nvPr/>
        </p:nvSpPr>
        <p:spPr>
          <a:xfrm>
            <a:off x="548640" y="1463040"/>
            <a:ext cx="7223760" cy="4663440"/>
          </a:xfrm>
          <a:prstGeom prst="roundRect">
            <a:avLst>
              <a:gd name="adj" fmla="val 2353"/>
            </a:avLst>
          </a:prstGeom>
          <a:solidFill>
            <a:schemeClr val="bg2"/>
          </a:solidFill>
          <a:ln w="15875">
            <a:solidFill>
              <a:srgbClr val="5F6B85"/>
            </a:solidFill>
            <a:prstDash val="dash"/>
          </a:ln>
        </p:spPr>
        <p:txBody>
          <a:bodyPr wrap="square" lIns="73152" tIns="36576" rIns="73152" bIns="36576" rtlCol="0" anchor="ctr"/>
          <a:lstStyle/>
          <a:p>
            <a:pPr algn="ctr" indent="0" marL="0">
              <a:buNone/>
            </a:pPr>
            <a:r>
              <a:rPr sz="1300" b="0">
                <a:solidFill>
                  <a:srgbClr val="232737"/>
                </a:solidFill>
                <a:latin typeface="Aptos"/>
              </a:rPr>
              <a:t>GitHub repository screenshot
The repository is public; the application UI screenshot should be captured from the running app.</a:t>
            </a:r>
            <a:endParaRPr lang="en-US" sz="1800" dirty="0"/>
          </a:p>
        </p:txBody>
      </p:sp>
      <p:sp>
        <p:nvSpPr>
          <p:cNvPr id="5" name="Callout 1 card"/>
          <p:cNvSpPr/>
          <p:nvPr/>
        </p:nvSpPr>
        <p:spPr>
          <a:xfrm>
            <a:off x="8138160" y="1463040"/>
            <a:ext cx="3504895" cy="1371600"/>
          </a:xfrm>
          <a:prstGeom prst="roundRect">
            <a:avLst>
              <a:gd name="adj" fmla="val 8000"/>
            </a:avLst>
          </a:prstGeom>
          <a:solidFill>
            <a:schemeClr val="bg2"/>
          </a:solidFill>
          <a:ln/>
        </p:spPr>
        <p:txBody>
          <a:bodyPr/>
          <a:p/>
        </p:txBody>
      </p:sp>
      <p:sp>
        <p:nvSpPr>
          <p:cNvPr id="6" name="Number 1"/>
          <p:cNvSpPr txBox="1"/>
          <p:nvPr/>
        </p:nvSpPr>
        <p:spPr>
          <a:xfrm>
            <a:off x="8366760" y="16916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9006840" y="1664208"/>
            <a:ext cx="2407615" cy="1005840"/>
          </a:xfrm>
          <a:prstGeom prst="rect">
            <a:avLst/>
          </a:prstGeom>
          <a:noFill/>
          <a:ln/>
        </p:spPr>
        <p:txBody>
          <a:bodyPr wrap="square" lIns="73152" tIns="36576" rIns="73152" bIns="36576" rtlCol="0" anchor="ctr"/>
          <a:lstStyle/>
          <a:p>
            <a:pPr indent="0" marL="0">
              <a:buNone/>
            </a:pPr>
            <a:r>
              <a:rPr sz="1300" b="0">
                <a:solidFill>
                  <a:srgbClr val="232737"/>
                </a:solidFill>
                <a:latin typeface="Aptos"/>
              </a:rPr>
              <a:t>Search and manage saved account records.</a:t>
            </a:r>
            <a:endParaRPr lang="en-US" sz="1600" dirty="0"/>
          </a:p>
        </p:txBody>
      </p:sp>
      <p:sp>
        <p:nvSpPr>
          <p:cNvPr id="8" name="Callout 2 card"/>
          <p:cNvSpPr/>
          <p:nvPr/>
        </p:nvSpPr>
        <p:spPr>
          <a:xfrm>
            <a:off x="8138160" y="3063240"/>
            <a:ext cx="3504895" cy="1371600"/>
          </a:xfrm>
          <a:prstGeom prst="roundRect">
            <a:avLst>
              <a:gd name="adj" fmla="val 8000"/>
            </a:avLst>
          </a:prstGeom>
          <a:solidFill>
            <a:schemeClr val="bg2"/>
          </a:solidFill>
          <a:ln/>
        </p:spPr>
        <p:txBody>
          <a:bodyPr/>
          <a:p/>
        </p:txBody>
      </p:sp>
      <p:sp>
        <p:nvSpPr>
          <p:cNvPr id="9" name="Number 2"/>
          <p:cNvSpPr txBox="1"/>
          <p:nvPr/>
        </p:nvSpPr>
        <p:spPr>
          <a:xfrm>
            <a:off x="8366760" y="32918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Text 8"/>
          <p:cNvSpPr txBox="1"/>
          <p:nvPr/>
        </p:nvSpPr>
        <p:spPr>
          <a:xfrm>
            <a:off x="9006840" y="3264408"/>
            <a:ext cx="2407615" cy="1005840"/>
          </a:xfrm>
          <a:prstGeom prst="rect">
            <a:avLst/>
          </a:prstGeom>
          <a:noFill/>
          <a:ln/>
        </p:spPr>
        <p:txBody>
          <a:bodyPr wrap="square" lIns="73152" tIns="36576" rIns="73152" bIns="36576" rtlCol="0" anchor="ctr"/>
          <a:lstStyle/>
          <a:p>
            <a:pPr indent="0" marL="0">
              <a:buNone/>
            </a:pPr>
            <a:r>
              <a:rPr sz="1300" b="0">
                <a:solidFill>
                  <a:srgbClr val="232737"/>
                </a:solidFill>
                <a:latin typeface="Aptos"/>
              </a:rPr>
              <a:t>Show/hide, copy, edit or delete an entry.</a:t>
            </a:r>
            <a:endParaRPr lang="en-US" sz="1600" dirty="0"/>
          </a:p>
        </p:txBody>
      </p:sp>
      <p:sp>
        <p:nvSpPr>
          <p:cNvPr id="11" name="Callout 3 card"/>
          <p:cNvSpPr/>
          <p:nvPr/>
        </p:nvSpPr>
        <p:spPr>
          <a:xfrm>
            <a:off x="8138160" y="4663440"/>
            <a:ext cx="3504895" cy="1371600"/>
          </a:xfrm>
          <a:prstGeom prst="roundRect">
            <a:avLst>
              <a:gd name="adj" fmla="val 8000"/>
            </a:avLst>
          </a:prstGeom>
          <a:solidFill>
            <a:schemeClr val="bg2"/>
          </a:solidFill>
          <a:ln/>
        </p:spPr>
        <p:txBody>
          <a:bodyPr/>
          <a:p/>
        </p:txBody>
      </p:sp>
      <p:sp>
        <p:nvSpPr>
          <p:cNvPr id="12" name="Number 3"/>
          <p:cNvSpPr txBox="1"/>
          <p:nvPr/>
        </p:nvSpPr>
        <p:spPr>
          <a:xfrm>
            <a:off x="8366760" y="48920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Text 11"/>
          <p:cNvSpPr txBox="1"/>
          <p:nvPr/>
        </p:nvSpPr>
        <p:spPr>
          <a:xfrm>
            <a:off x="9006840" y="4864608"/>
            <a:ext cx="2407615" cy="1005840"/>
          </a:xfrm>
          <a:prstGeom prst="rect">
            <a:avLst/>
          </a:prstGeom>
          <a:noFill/>
          <a:ln/>
        </p:spPr>
        <p:txBody>
          <a:bodyPr wrap="square" lIns="73152" tIns="36576" rIns="73152" bIns="36576" rtlCol="0" anchor="ctr"/>
          <a:lstStyle/>
          <a:p>
            <a:pPr indent="0" marL="0">
              <a:buNone/>
            </a:pPr>
            <a:r>
              <a:rPr sz="1300" b="0">
                <a:solidFill>
                  <a:srgbClr val="232737"/>
                </a:solidFill>
                <a:latin typeface="Aptos"/>
              </a:rPr>
              <a:t>Add a credential or generate a new password.</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pic>
        <p:nvPicPr>
          <p:cNvPr id="26" name="Picture 25" descr="github_repo_crop.jpg"/>
          <p:cNvPicPr>
            <a:picLocks noChangeAspect="1"/>
          </p:cNvPicPr>
          <p:nvPr/>
        </p:nvPicPr>
        <p:blipFill>
          <a:blip r:embed="rId3"/>
          <a:stretch>
            <a:fillRect/>
          </a:stretch>
        </p:blipFill>
        <p:spPr>
          <a:xfrm>
            <a:off x="621792" y="1536192"/>
            <a:ext cx="7077456" cy="45171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73152" tIns="36576" rIns="73152" bIns="36576" rtlCol="0" anchor="ctr"/>
          <a:lstStyle/>
          <a:p>
            <a:pPr algn="l" indent="0" marL="0">
              <a:buNone/>
            </a:pPr>
            <a:r>
              <a:rPr sz="2500" b="1">
                <a:solidFill>
                  <a:srgbClr val="232737"/>
                </a:solidFill>
                <a:latin typeface="Aptos"/>
              </a:rPr>
              <a:t>Python concepts used</a:t>
            </a:r>
            <a:endParaRPr lang="en-US" sz="3600" dirty="0"/>
          </a:p>
        </p:txBody>
      </p:sp>
      <p:graphicFrame>
        <p:nvGraphicFramePr>
          <p:cNvPr id="12" name="Concept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291840"/>
                <a:gridCol w="4114800"/>
                <a:gridCol w="3687775"/>
              </a:tblGrid>
              <a:tr h="640080">
                <a:tc>
                  <a:txBody>
                    <a:bodyPr/>
                    <a:lstStyle/>
                    <a:p>
                      <a:pPr indent="0" marL="0">
                        <a:buNone/>
                      </a:pPr>
                      <a:r>
                        <a:rPr lang="en-US" sz="1600" b="1" dirty="0">
                          <a:solidFill>
                            <a:schemeClr val="bg1"/>
                          </a:solidFill>
                        </a:rPr>
                        <a:t>Concept</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Where in our code (file, function or 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What it does there</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accent1"/>
                    </a:solidFill>
                  </a:tcPr>
                </a:tc>
              </a:tr>
              <a:tr h="640080">
                <a:tc>
                  <a:txBody>
                    <a:bodyPr/>
                    <a:lstStyle/>
                    <a:p>
                      <a:pPr indent="0" marL="0">
                        <a:buNone/>
                      </a:pPr>
                      <a:r>
                        <a:rPr lang="en-US" sz="1600" b="1" dirty="0">
                          <a:solidFill>
                            <a:schemeClr val="tx1"/>
                          </a:solidFill>
                        </a:rPr>
                        <a:t>Functions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Classes and objects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Lists, tuples, sets and dictionaries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File handling (text, CSV or JSON)</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Exception handling</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Modules and packages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[file.py: function_or_class]</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 ]</a:t>
                      </a:r>
                      <a:endParaRPr lang="en-US" sz="1600" dirty="0"/>
                    </a:p>
                  </a:txBody>
                  <a:tcPr marL="109728" marR="109728" marT="0" marB="0"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
        <p:nvSpPr>
          <p:cNvPr id="26" name="Rounded Rectangle 25"/>
          <p:cNvSpPr/>
          <p:nvPr/>
        </p:nvSpPr>
        <p:spPr>
          <a:xfrm>
            <a:off x="502920" y="1234440"/>
            <a:ext cx="11155680" cy="4754880"/>
          </a:xfrm>
          <a:prstGeom prst="roundRect">
            <a:avLst/>
          </a:prstGeom>
          <a:solidFill>
            <a:srgbClr val="EBF2F9"/>
          </a:solidFill>
          <a:ln>
            <a:solidFill>
              <a:srgbClr val="EBF2F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spcAft>
                <a:spcPts val="1000"/>
              </a:spcAft>
            </a:pPr>
            <a:r>
              <a:rPr sz="1700">
                <a:solidFill>
                  <a:srgbClr val="232737"/>
                </a:solidFill>
                <a:latin typeface="Aptos"/>
              </a:rPr>
              <a:t>Flask routes and request handling  |  app.py  —  Connect browser forms to Python handlers.</a:t>
            </a:r>
          </a:p>
          <a:p>
            <a:pPr>
              <a:spcAft>
                <a:spcPts val="1000"/>
              </a:spcAft>
            </a:pPr>
            <a:r>
              <a:rPr sz="1700">
                <a:solidFill>
                  <a:srgbClr val="232737"/>
                </a:solidFill>
                <a:latin typeface="Aptos"/>
              </a:rPr>
              <a:t>Input validation and conditionals  |  Setup/login and credential routes  —  Check submitted fields and choose the correct action.</a:t>
            </a:r>
          </a:p>
          <a:p>
            <a:pPr>
              <a:spcAft>
                <a:spcPts val="1000"/>
              </a:spcAft>
            </a:pPr>
            <a:r>
              <a:rPr sz="1700">
                <a:solidFill>
                  <a:srgbClr val="232737"/>
                </a:solidFill>
                <a:latin typeface="Aptos"/>
              </a:rPr>
              <a:t>Password hashing and key derivation  |  Authentication / encryption helpers  —  Verify the master password and derive encryption key material.</a:t>
            </a:r>
          </a:p>
          <a:p>
            <a:pPr>
              <a:spcAft>
                <a:spcPts val="1000"/>
              </a:spcAft>
            </a:pPr>
            <a:r>
              <a:rPr sz="1700">
                <a:solidFill>
                  <a:srgbClr val="232737"/>
                </a:solidFill>
                <a:latin typeface="Aptos"/>
              </a:rPr>
              <a:t>Fernet encryption/decryption  |  Credential storage and reveal flow  —  Encrypt secret values before persistence; decrypt for authenticated viewing.</a:t>
            </a:r>
          </a:p>
          <a:p>
            <a:pPr>
              <a:spcAft>
                <a:spcPts val="1000"/>
              </a:spcAft>
            </a:pPr>
            <a:r>
              <a:rPr sz="1700">
                <a:solidFill>
                  <a:srgbClr val="232737"/>
                </a:solidFill>
                <a:latin typeface="Aptos"/>
              </a:rPr>
              <a:t>SQLite operations  |  Database helper / route logic  —  Create, read, update and delete local credential records.</a:t>
            </a:r>
          </a:p>
          <a:p>
            <a:pPr>
              <a:spcAft>
                <a:spcPts val="1000"/>
              </a:spcAft>
            </a:pPr>
            <a:r>
              <a:rPr sz="1700">
                <a:solidFill>
                  <a:srgbClr val="232737"/>
                </a:solidFill>
                <a:latin typeface="Aptos"/>
              </a:rPr>
              <a:t>Templates and static files  |  templates/ and static/style.css  —  Separate HTML pages and visual styling from Python logic.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Key code</a:t>
            </a:r>
            <a:endParaRPr lang="en-US" sz="3600" dirty="0"/>
          </a:p>
        </p:txBody>
      </p:sp>
      <p:sp>
        <p:nvSpPr>
          <p:cNvPr id="3" name="Code panel"/>
          <p:cNvSpPr/>
          <p:nvPr/>
        </p:nvSpPr>
        <p:spPr>
          <a:xfrm>
            <a:off x="548640" y="1463040"/>
            <a:ext cx="7040880" cy="4663440"/>
          </a:xfrm>
          <a:prstGeom prst="roundRect">
            <a:avLst>
              <a:gd name="adj" fmla="val 2353"/>
            </a:avLst>
          </a:prstGeom>
          <a:solidFill>
            <a:schemeClr val="tx1"/>
          </a:solidFill>
          <a:ln/>
        </p:spPr>
        <p:txBody>
          <a:bodyPr/>
          <a:p/>
        </p:txBody>
      </p:sp>
      <p:sp>
        <p:nvSpPr>
          <p:cNvPr id="4" name="Code file name"/>
          <p:cNvSpPr txBox="1"/>
          <p:nvPr/>
        </p:nvSpPr>
        <p:spPr>
          <a:xfrm>
            <a:off x="868680" y="1737360"/>
            <a:ext cx="6400800" cy="365760"/>
          </a:xfrm>
          <a:prstGeom prst="rect">
            <a:avLst/>
          </a:prstGeom>
          <a:noFill/>
          <a:ln/>
        </p:spPr>
        <p:txBody>
          <a:bodyPr wrap="square" lIns="73152" tIns="36576" rIns="73152" bIns="36576" rtlCol="0" anchor="ctr"/>
          <a:lstStyle/>
          <a:p>
            <a:pPr indent="0" marL="0">
              <a:buNone/>
            </a:pPr>
            <a:r>
              <a:rPr sz="1300" b="0">
                <a:solidFill>
                  <a:srgbClr val="232737"/>
                </a:solidFill>
                <a:latin typeface="Aptos"/>
              </a:rPr>
              <a:t>Security workflow (conceptual)</a:t>
            </a:r>
            <a:endParaRPr lang="en-US" sz="1400" dirty="0"/>
          </a:p>
        </p:txBody>
      </p:sp>
      <p:sp>
        <p:nvSpPr>
          <p:cNvPr id="5" name="Code"/>
          <p:cNvSpPr txBox="1"/>
          <p:nvPr/>
        </p:nvSpPr>
        <p:spPr>
          <a:xfrm>
            <a:off x="868680" y="2331720"/>
            <a:ext cx="6400800" cy="3520440"/>
          </a:xfrm>
          <a:prstGeom prst="rect">
            <a:avLst/>
          </a:prstGeom>
          <a:noFill/>
          <a:ln/>
        </p:spPr>
        <p:txBody>
          <a:bodyPr wrap="square" lIns="73152" tIns="36576" rIns="73152" bIns="36576" rtlCol="0" anchor="ctr"/>
          <a:lstStyle/>
          <a:p>
            <a:pPr indent="0" marL="0">
              <a:lnSpc>
                <a:spcPct val="115000"/>
              </a:lnSpc>
              <a:buNone/>
            </a:pPr>
            <a:pPr indent="0" marL="0">
              <a:lnSpc>
                <a:spcPct val="115000"/>
              </a:lnSpc>
              <a:buNone/>
            </a:pPr>
            <a:r>
              <a:rPr sz="1300" b="0">
                <a:solidFill>
                  <a:srgbClr val="FFFFFF"/>
                </a:solidFill>
                <a:latin typeface="Aptos"/>
              </a:rPr>
              <a:t>SECURITY WORKFLOW — CONCEPTUAL SUMMARY
validate submitted fields
derive key from configured secret material
ciphertext = Fernet(key).encrypt(secret)
store ciphertext in local SQLite
decrypt only inside authenticated reveal flow
This is a workflow summary, not a verbatim code excerpt.</a:t>
            </a:r>
            <a:endParaRPr lang="en-US" sz="1600" dirty="0"/>
          </a:p>
        </p:txBody>
      </p:sp>
      <p:sp>
        <p:nvSpPr>
          <p:cNvPr id="6" name="Text 4"/>
          <p:cNvSpPr txBox="1"/>
          <p:nvPr/>
        </p:nvSpPr>
        <p:spPr>
          <a:xfrm>
            <a:off x="7955280" y="1463040"/>
            <a:ext cx="3687775" cy="502920"/>
          </a:xfrm>
          <a:prstGeom prst="rect">
            <a:avLst/>
          </a:prstGeom>
          <a:noFill/>
          <a:ln/>
        </p:spPr>
        <p:txBody>
          <a:bodyPr wrap="square" lIns="0" tIns="0" rIns="0" bIns="0" rtlCol="0" anchor="ctr"/>
          <a:lstStyle/>
          <a:p>
            <a:pPr indent="0" marL="0">
              <a:buNone/>
            </a:pPr>
            <a:r>
              <a:rPr lang="en-US" sz="2200" b="1" dirty="0">
                <a:solidFill>
                  <a:schemeClr val="tx1"/>
                </a:solidFill>
              </a:rPr>
              <a:t>What it does</a:t>
            </a:r>
            <a:endParaRPr lang="en-US" sz="2200" dirty="0"/>
          </a:p>
        </p:txBody>
      </p:sp>
      <p:sp>
        <p:nvSpPr>
          <p:cNvPr id="7" name="Code note 1 card"/>
          <p:cNvSpPr/>
          <p:nvPr/>
        </p:nvSpPr>
        <p:spPr>
          <a:xfrm>
            <a:off x="7955280" y="2194560"/>
            <a:ext cx="3687775" cy="1143000"/>
          </a:xfrm>
          <a:prstGeom prst="roundRect">
            <a:avLst>
              <a:gd name="adj" fmla="val 9600"/>
            </a:avLst>
          </a:prstGeom>
          <a:solidFill>
            <a:schemeClr val="bg2"/>
          </a:solidFill>
          <a:ln/>
        </p:spPr>
        <p:txBody>
          <a:bodyPr/>
          <a:p/>
        </p:txBody>
      </p:sp>
      <p:sp>
        <p:nvSpPr>
          <p:cNvPr id="8" name="Number 1"/>
          <p:cNvSpPr txBox="1"/>
          <p:nvPr/>
        </p:nvSpPr>
        <p:spPr>
          <a:xfrm>
            <a:off x="8183880" y="237744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Text 7"/>
          <p:cNvSpPr txBox="1"/>
          <p:nvPr/>
        </p:nvSpPr>
        <p:spPr>
          <a:xfrm>
            <a:off x="8823960" y="2359152"/>
            <a:ext cx="2590495" cy="822960"/>
          </a:xfrm>
          <a:prstGeom prst="rect">
            <a:avLst/>
          </a:prstGeom>
          <a:noFill/>
          <a:ln/>
        </p:spPr>
        <p:txBody>
          <a:bodyPr wrap="square" lIns="73152" tIns="36576" rIns="73152" bIns="36576" rtlCol="0" anchor="ctr"/>
          <a:lstStyle/>
          <a:p>
            <a:pPr indent="0" marL="0">
              <a:buNone/>
            </a:pPr>
            <a:r>
              <a:rPr sz="1300" b="0">
                <a:solidFill>
                  <a:srgbClr val="232737"/>
                </a:solidFill>
                <a:latin typeface="Aptos"/>
              </a:rPr>
              <a:t>Encrypt before database write.</a:t>
            </a:r>
            <a:endParaRPr lang="en-US" sz="1600" dirty="0"/>
          </a:p>
        </p:txBody>
      </p:sp>
      <p:sp>
        <p:nvSpPr>
          <p:cNvPr id="10" name="Code note 2 card"/>
          <p:cNvSpPr/>
          <p:nvPr/>
        </p:nvSpPr>
        <p:spPr>
          <a:xfrm>
            <a:off x="7955280" y="3520440"/>
            <a:ext cx="3687775" cy="1143000"/>
          </a:xfrm>
          <a:prstGeom prst="roundRect">
            <a:avLst>
              <a:gd name="adj" fmla="val 9600"/>
            </a:avLst>
          </a:prstGeom>
          <a:solidFill>
            <a:schemeClr val="bg2"/>
          </a:solidFill>
          <a:ln/>
        </p:spPr>
        <p:txBody>
          <a:bodyPr/>
          <a:p/>
        </p:txBody>
      </p:sp>
      <p:sp>
        <p:nvSpPr>
          <p:cNvPr id="11" name="Number 2"/>
          <p:cNvSpPr txBox="1"/>
          <p:nvPr/>
        </p:nvSpPr>
        <p:spPr>
          <a:xfrm>
            <a:off x="8183880" y="370332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10"/>
          <p:cNvSpPr txBox="1"/>
          <p:nvPr/>
        </p:nvSpPr>
        <p:spPr>
          <a:xfrm>
            <a:off x="8823960" y="3685032"/>
            <a:ext cx="2590495" cy="822960"/>
          </a:xfrm>
          <a:prstGeom prst="rect">
            <a:avLst/>
          </a:prstGeom>
          <a:noFill/>
          <a:ln/>
        </p:spPr>
        <p:txBody>
          <a:bodyPr wrap="square" lIns="73152" tIns="36576" rIns="73152" bIns="36576" rtlCol="0" anchor="ctr"/>
          <a:lstStyle/>
          <a:p>
            <a:pPr indent="0" marL="0">
              <a:buNone/>
            </a:pPr>
            <a:r>
              <a:rPr sz="1300" b="0">
                <a:solidFill>
                  <a:srgbClr val="232737"/>
                </a:solidFill>
                <a:latin typeface="Aptos"/>
              </a:rPr>
              <a:t>Fernet handles authenticated symmetric encryption.</a:t>
            </a:r>
            <a:endParaRPr lang="en-US" sz="1600" dirty="0"/>
          </a:p>
        </p:txBody>
      </p:sp>
      <p:sp>
        <p:nvSpPr>
          <p:cNvPr id="13" name="Code note 3 card"/>
          <p:cNvSpPr/>
          <p:nvPr/>
        </p:nvSpPr>
        <p:spPr>
          <a:xfrm>
            <a:off x="7955280" y="4846320"/>
            <a:ext cx="3687775" cy="1143000"/>
          </a:xfrm>
          <a:prstGeom prst="roundRect">
            <a:avLst>
              <a:gd name="adj" fmla="val 9600"/>
            </a:avLst>
          </a:prstGeom>
          <a:solidFill>
            <a:schemeClr val="bg2"/>
          </a:solidFill>
          <a:ln/>
        </p:spPr>
        <p:txBody>
          <a:bodyPr/>
          <a:p/>
        </p:txBody>
      </p:sp>
      <p:sp>
        <p:nvSpPr>
          <p:cNvPr id="14" name="Number 3"/>
          <p:cNvSpPr txBox="1"/>
          <p:nvPr/>
        </p:nvSpPr>
        <p:spPr>
          <a:xfrm>
            <a:off x="8183880" y="502920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3"/>
          <p:cNvSpPr txBox="1"/>
          <p:nvPr/>
        </p:nvSpPr>
        <p:spPr>
          <a:xfrm>
            <a:off x="8823960" y="5010912"/>
            <a:ext cx="2590495" cy="822960"/>
          </a:xfrm>
          <a:prstGeom prst="rect">
            <a:avLst/>
          </a:prstGeom>
          <a:noFill/>
          <a:ln/>
        </p:spPr>
        <p:txBody>
          <a:bodyPr wrap="square" lIns="73152" tIns="36576" rIns="73152" bIns="36576" rtlCol="0" anchor="ctr"/>
          <a:lstStyle/>
          <a:p>
            <a:pPr indent="0" marL="0">
              <a:buNone/>
            </a:pPr>
            <a:r>
              <a:rPr sz="1300" b="0">
                <a:solidFill>
                  <a:srgbClr val="232737"/>
                </a:solidFill>
                <a:latin typeface="Aptos"/>
              </a:rPr>
              <a:t>Confirm exact function names against app.py before viva.</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Live demonstration</a:t>
            </a:r>
            <a:endParaRPr lang="en-US" sz="3600" dirty="0"/>
          </a:p>
        </p:txBody>
      </p:sp>
      <p:sp>
        <p:nvSpPr>
          <p:cNvPr id="3" name="Demo card"/>
          <p:cNvSpPr/>
          <p:nvPr/>
        </p:nvSpPr>
        <p:spPr>
          <a:xfrm>
            <a:off x="548640" y="1463040"/>
            <a:ext cx="4023360" cy="4663440"/>
          </a:xfrm>
          <a:prstGeom prst="roundRect">
            <a:avLst>
              <a:gd name="adj" fmla="val 2727"/>
            </a:avLst>
          </a:prstGeom>
          <a:solidFill>
            <a:schemeClr val="tx1"/>
          </a:solidFill>
          <a:ln/>
        </p:spPr>
        <p:txBody>
          <a:bodyPr/>
          <a:p/>
        </p:txBody>
      </p:sp>
      <p:sp>
        <p:nvSpPr>
          <p:cNvPr id="4" name="FaPlay circle"/>
          <p:cNvSpPr/>
          <p:nvPr/>
        </p:nvSpPr>
        <p:spPr>
          <a:xfrm>
            <a:off x="1828800" y="2286000"/>
            <a:ext cx="1463040" cy="1463040"/>
          </a:xfrm>
          <a:prstGeom prst="ellipse">
            <a:avLst/>
          </a:prstGeom>
          <a:solidFill>
            <a:schemeClr val="accent2"/>
          </a:solidFill>
          <a:ln/>
        </p:spPr>
        <p:txBody>
          <a:bodyPr/>
          <a:p/>
        </p:txBody>
      </p:sp>
      <p:pic>
        <p:nvPicPr>
          <p:cNvPr id="5" name="FaPlay icon" descr="preencoded.png">    </p:cNvPr>
          <p:cNvPicPr>
            <a:picLocks noChangeAspect="1"/>
          </p:cNvPicPr>
          <p:nvPr/>
        </p:nvPicPr>
        <p:blipFill>
          <a:blip r:embed="rId1"/>
          <a:stretch>
            <a:fillRect/>
          </a:stretch>
        </p:blipFill>
        <p:spPr>
          <a:xfrm>
            <a:off x="2179930" y="2637130"/>
            <a:ext cx="760781" cy="760781"/>
          </a:xfrm>
          <a:prstGeom prst="rect">
            <a:avLst/>
          </a:prstGeom>
        </p:spPr>
      </p:pic>
      <p:sp>
        <p:nvSpPr>
          <p:cNvPr id="6" name="Demo label"/>
          <p:cNvSpPr txBox="1"/>
          <p:nvPr/>
        </p:nvSpPr>
        <p:spPr>
          <a:xfrm>
            <a:off x="822960" y="4069080"/>
            <a:ext cx="3474720" cy="1188720"/>
          </a:xfrm>
          <a:prstGeom prst="rect">
            <a:avLst/>
          </a:prstGeom>
          <a:noFill/>
          <a:ln/>
        </p:spPr>
        <p:txBody>
          <a:bodyPr wrap="square" lIns="64008" tIns="36576" rIns="64008" bIns="36576" rtlCol="0" anchor="ctr"/>
          <a:lstStyle/>
          <a:p>
            <a:pPr algn="ctr" indent="0" marL="0">
              <a:buNone/>
            </a:pPr>
            <a:r>
              <a:rPr sz="1200" b="0">
                <a:solidFill>
                  <a:srgbClr val="FFFFFF"/>
                </a:solidFill>
                <a:latin typeface="Aptos"/>
              </a:rPr>
              <a:t>Approx. 4-minute walkthrough</a:t>
            </a:r>
            <a:endParaRPr lang="en-US" sz="1600" dirty="0"/>
          </a:p>
        </p:txBody>
      </p:sp>
      <p:sp>
        <p:nvSpPr>
          <p:cNvPr id="7" name="Text 4"/>
          <p:cNvSpPr txBox="1"/>
          <p:nvPr/>
        </p:nvSpPr>
        <p:spPr>
          <a:xfrm>
            <a:off x="4983480" y="1463040"/>
            <a:ext cx="6659575" cy="502920"/>
          </a:xfrm>
          <a:prstGeom prst="rect">
            <a:avLst/>
          </a:prstGeom>
          <a:noFill/>
          <a:ln/>
        </p:spPr>
        <p:txBody>
          <a:bodyPr wrap="square" lIns="0" tIns="0" rIns="0" bIns="0" rtlCol="0" anchor="ctr"/>
          <a:lstStyle/>
          <a:p>
            <a:pPr indent="0" marL="0">
              <a:buNone/>
            </a:pPr>
            <a:r>
              <a:rPr lang="en-US" sz="2200" b="1" dirty="0">
                <a:solidFill>
                  <a:schemeClr val="tx1"/>
                </a:solidFill>
              </a:rPr>
              <a:t>What we will show</a:t>
            </a:r>
            <a:endParaRPr lang="en-US" sz="2200" dirty="0"/>
          </a:p>
        </p:txBody>
      </p:sp>
      <p:sp>
        <p:nvSpPr>
          <p:cNvPr id="8" name="Number 1"/>
          <p:cNvSpPr txBox="1"/>
          <p:nvPr/>
        </p:nvSpPr>
        <p:spPr>
          <a:xfrm>
            <a:off x="4983480" y="22402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Text 6"/>
          <p:cNvSpPr txBox="1"/>
          <p:nvPr/>
        </p:nvSpPr>
        <p:spPr>
          <a:xfrm>
            <a:off x="5669280" y="2194560"/>
            <a:ext cx="5973775" cy="5486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Start VaultX and log in.</a:t>
            </a:r>
            <a:endParaRPr lang="en-US" sz="1800" dirty="0"/>
          </a:p>
        </p:txBody>
      </p:sp>
      <p:sp>
        <p:nvSpPr>
          <p:cNvPr id="10" name="Number 2"/>
          <p:cNvSpPr txBox="1"/>
          <p:nvPr/>
        </p:nvSpPr>
        <p:spPr>
          <a:xfrm>
            <a:off x="4983480" y="3044952"/>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8"/>
          <p:cNvSpPr txBox="1"/>
          <p:nvPr/>
        </p:nvSpPr>
        <p:spPr>
          <a:xfrm>
            <a:off x="5669280" y="2999232"/>
            <a:ext cx="5973775" cy="5486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Add a fictional credential.</a:t>
            </a:r>
            <a:endParaRPr lang="en-US" sz="1800" dirty="0"/>
          </a:p>
        </p:txBody>
      </p:sp>
      <p:sp>
        <p:nvSpPr>
          <p:cNvPr id="12" name="Number 3"/>
          <p:cNvSpPr txBox="1"/>
          <p:nvPr/>
        </p:nvSpPr>
        <p:spPr>
          <a:xfrm>
            <a:off x="4983480" y="3849624"/>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Text 10"/>
          <p:cNvSpPr txBox="1"/>
          <p:nvPr/>
        </p:nvSpPr>
        <p:spPr>
          <a:xfrm>
            <a:off x="5669280" y="3803904"/>
            <a:ext cx="5973775" cy="5486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Search, reveal and copy the saved entry.</a:t>
            </a:r>
            <a:endParaRPr lang="en-US" sz="1800" dirty="0"/>
          </a:p>
        </p:txBody>
      </p:sp>
      <p:sp>
        <p:nvSpPr>
          <p:cNvPr id="14" name="Number 4"/>
          <p:cNvSpPr txBox="1"/>
          <p:nvPr/>
        </p:nvSpPr>
        <p:spPr>
          <a:xfrm>
            <a:off x="4983480" y="4654296"/>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5" name="Text 12"/>
          <p:cNvSpPr txBox="1"/>
          <p:nvPr/>
        </p:nvSpPr>
        <p:spPr>
          <a:xfrm>
            <a:off x="5669280" y="4608576"/>
            <a:ext cx="5973775" cy="548640"/>
          </a:xfrm>
          <a:prstGeom prst="rect">
            <a:avLst/>
          </a:prstGeom>
          <a:noFill/>
          <a:ln/>
        </p:spPr>
        <p:txBody>
          <a:bodyPr wrap="square" lIns="54864" tIns="27432" rIns="54864" bIns="27432" rtlCol="0" anchor="ctr"/>
          <a:lstStyle/>
          <a:p>
            <a:pPr indent="0" marL="0">
              <a:buNone/>
            </a:pPr>
            <a:r>
              <a:rPr sz="1300" b="0">
                <a:solidFill>
                  <a:srgbClr val="232737"/>
                </a:solidFill>
                <a:latin typeface="Aptos"/>
              </a:rPr>
              <a:t>Try invalid login or missing input.</a:t>
            </a:r>
            <a:endParaRPr lang="en-US" sz="1800" dirty="0"/>
          </a:p>
        </p:txBody>
      </p:sp>
      <p:sp>
        <p:nvSpPr>
          <p:cNvPr id="16" name="Backup card"/>
          <p:cNvSpPr/>
          <p:nvPr/>
        </p:nvSpPr>
        <p:spPr>
          <a:xfrm>
            <a:off x="4983480" y="5212080"/>
            <a:ext cx="6659575" cy="914400"/>
          </a:xfrm>
          <a:prstGeom prst="roundRect">
            <a:avLst>
              <a:gd name="adj" fmla="val 12000"/>
            </a:avLst>
          </a:prstGeom>
          <a:solidFill>
            <a:schemeClr val="bg2"/>
          </a:solidFill>
          <a:ln/>
        </p:spPr>
        <p:txBody>
          <a:bodyPr/>
          <a:p/>
        </p:txBody>
      </p:sp>
      <p:sp>
        <p:nvSpPr>
          <p:cNvPr id="17" name="FaVideo circle"/>
          <p:cNvSpPr/>
          <p:nvPr/>
        </p:nvSpPr>
        <p:spPr>
          <a:xfrm>
            <a:off x="5212080" y="5394960"/>
            <a:ext cx="548640" cy="548640"/>
          </a:xfrm>
          <a:prstGeom prst="ellipse">
            <a:avLst/>
          </a:prstGeom>
          <a:solidFill>
            <a:schemeClr val="accent1"/>
          </a:solidFill>
          <a:ln/>
        </p:spPr>
        <p:txBody>
          <a:bodyPr/>
          <a:p/>
        </p:txBody>
      </p:sp>
      <p:pic>
        <p:nvPicPr>
          <p:cNvPr id="18" name="FaVideo icon" descr="preencoded.png">    </p:cNvPr>
          <p:cNvPicPr>
            <a:picLocks noChangeAspect="1"/>
          </p:cNvPicPr>
          <p:nvPr/>
        </p:nvPicPr>
        <p:blipFill>
          <a:blip r:embed="rId2"/>
          <a:stretch>
            <a:fillRect/>
          </a:stretch>
        </p:blipFill>
        <p:spPr>
          <a:xfrm>
            <a:off x="5343754" y="5526634"/>
            <a:ext cx="285293" cy="285293"/>
          </a:xfrm>
          <a:prstGeom prst="rect">
            <a:avLst/>
          </a:prstGeom>
        </p:spPr>
      </p:pic>
      <p:sp>
        <p:nvSpPr>
          <p:cNvPr id="19" name="Text 15"/>
          <p:cNvSpPr txBox="1"/>
          <p:nvPr/>
        </p:nvSpPr>
        <p:spPr>
          <a:xfrm>
            <a:off x="5943600" y="5349240"/>
            <a:ext cx="5470855" cy="6400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Backup: use a short screen recording if available.</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Results and testing</a:t>
            </a:r>
            <a:endParaRPr lang="en-US" sz="3600" dirty="0"/>
          </a:p>
        </p:txBody>
      </p:sp>
      <p:sp>
        <p:nvSpPr>
          <p:cNvPr id="3" name="Alternative tag (delete before presenting)"/>
          <p:cNvSpPr txBox="1"/>
          <p:nvPr/>
        </p:nvSpPr>
        <p:spPr>
          <a:xfrm>
            <a:off x="9448495" y="987552"/>
            <a:ext cx="2194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FOR APPLICATIONS</a:t>
            </a:r>
            <a:endParaRPr lang="en-US" sz="1200" dirty="0"/>
          </a:p>
        </p:txBody>
      </p:sp>
      <p:sp>
        <p:nvSpPr>
          <p:cNvPr id="4" name="Screenshot placeholder"/>
          <p:cNvSpPr txBox="1"/>
          <p:nvPr/>
        </p:nvSpPr>
        <p:spPr>
          <a:xfrm>
            <a:off x="548640" y="1463040"/>
            <a:ext cx="6766560" cy="4663440"/>
          </a:xfrm>
          <a:prstGeom prst="roundRect">
            <a:avLst>
              <a:gd name="adj" fmla="val 2353"/>
            </a:avLst>
          </a:prstGeom>
          <a:solidFill>
            <a:schemeClr val="bg2"/>
          </a:solidFill>
          <a:ln w="15875">
            <a:solidFill>
              <a:srgbClr val="5F6B85"/>
            </a:solidFill>
            <a:prstDash val="dash"/>
          </a:ln>
        </p:spPr>
        <p:txBody>
          <a:bodyPr wrap="square" lIns="73152" tIns="36576" rIns="73152" bIns="36576" rtlCol="0" anchor="ctr"/>
          <a:lstStyle/>
          <a:p>
            <a:pPr algn="ctr" indent="0" marL="0">
              <a:buNone/>
            </a:pPr>
            <a:r>
              <a:rPr sz="1300" b="0">
                <a:solidFill>
                  <a:srgbClr val="232737"/>
                </a:solidFill>
                <a:latin typeface="Aptos"/>
              </a:rPr>
              <a:t>Observed terminal output: Flask development server starts at 127.0.0.1:5000 and returns HTTP 200 for GET requests.</a:t>
            </a:r>
            <a:endParaRPr lang="en-US" sz="1800" dirty="0"/>
          </a:p>
        </p:txBody>
      </p:sp>
      <p:sp>
        <p:nvSpPr>
          <p:cNvPr id="5" name="Result 1 card"/>
          <p:cNvSpPr/>
          <p:nvPr/>
        </p:nvSpPr>
        <p:spPr>
          <a:xfrm>
            <a:off x="7680960" y="1463040"/>
            <a:ext cx="3962095" cy="1371600"/>
          </a:xfrm>
          <a:prstGeom prst="roundRect">
            <a:avLst>
              <a:gd name="adj" fmla="val 8000"/>
            </a:avLst>
          </a:prstGeom>
          <a:solidFill>
            <a:schemeClr val="tx1"/>
          </a:solidFill>
          <a:ln/>
        </p:spPr>
        <p:txBody>
          <a:bodyPr/>
          <a:p/>
        </p:txBody>
      </p:sp>
      <p:sp>
        <p:nvSpPr>
          <p:cNvPr id="6" name="Result 1"/>
          <p:cNvSpPr txBox="1"/>
          <p:nvPr/>
        </p:nvSpPr>
        <p:spPr>
          <a:xfrm>
            <a:off x="8001000" y="1618488"/>
            <a:ext cx="3413455" cy="10972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Core flows described in project report
setup/login, CRUD, search and generator</a:t>
            </a:r>
            <a:endParaRPr lang="en-US" sz="1600" dirty="0"/>
          </a:p>
        </p:txBody>
      </p:sp>
      <p:sp>
        <p:nvSpPr>
          <p:cNvPr id="7" name="Result 2 card"/>
          <p:cNvSpPr/>
          <p:nvPr/>
        </p:nvSpPr>
        <p:spPr>
          <a:xfrm>
            <a:off x="7680960" y="3063240"/>
            <a:ext cx="3962095" cy="1371600"/>
          </a:xfrm>
          <a:prstGeom prst="roundRect">
            <a:avLst>
              <a:gd name="adj" fmla="val 8000"/>
            </a:avLst>
          </a:prstGeom>
          <a:solidFill>
            <a:schemeClr val="bg2"/>
          </a:solidFill>
          <a:ln/>
        </p:spPr>
        <p:txBody>
          <a:bodyPr/>
          <a:p/>
        </p:txBody>
      </p:sp>
      <p:sp>
        <p:nvSpPr>
          <p:cNvPr id="8" name="Result 2"/>
          <p:cNvSpPr txBox="1"/>
          <p:nvPr/>
        </p:nvSpPr>
        <p:spPr>
          <a:xfrm>
            <a:off x="8001000" y="3218688"/>
            <a:ext cx="3413455" cy="10972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Functional checks discussed; exact test count not recorded</a:t>
            </a:r>
            <a:endParaRPr lang="en-US" sz="1600" dirty="0"/>
          </a:p>
        </p:txBody>
      </p:sp>
      <p:sp>
        <p:nvSpPr>
          <p:cNvPr id="9" name="Result 3 card"/>
          <p:cNvSpPr/>
          <p:nvPr/>
        </p:nvSpPr>
        <p:spPr>
          <a:xfrm>
            <a:off x="7680960" y="4663440"/>
            <a:ext cx="3962095" cy="1371600"/>
          </a:xfrm>
          <a:prstGeom prst="roundRect">
            <a:avLst>
              <a:gd name="adj" fmla="val 8000"/>
            </a:avLst>
          </a:prstGeom>
          <a:solidFill>
            <a:schemeClr val="bg2"/>
          </a:solidFill>
          <a:ln/>
        </p:spPr>
        <p:txBody>
          <a:bodyPr/>
          <a:p/>
        </p:txBody>
      </p:sp>
      <p:sp>
        <p:nvSpPr>
          <p:cNvPr id="10" name="Result 3"/>
          <p:cNvSpPr txBox="1"/>
          <p:nvPr/>
        </p:nvSpPr>
        <p:spPr>
          <a:xfrm>
            <a:off x="8001000" y="4818888"/>
            <a:ext cx="3413455" cy="10972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No formal bug count recorded</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pic>
        <p:nvPicPr>
          <p:cNvPr id="26" name="Picture 25" descr="Screenshot 2026-10-27 212933.png"/>
          <p:cNvPicPr>
            <a:picLocks noChangeAspect="1"/>
          </p:cNvPicPr>
          <p:nvPr/>
        </p:nvPicPr>
        <p:blipFill>
          <a:blip r:embed="rId3"/>
          <a:stretch>
            <a:fillRect/>
          </a:stretch>
        </p:blipFill>
        <p:spPr>
          <a:xfrm>
            <a:off x="640080" y="2697480"/>
            <a:ext cx="6583680" cy="1051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Challenges and what we learnt</a:t>
            </a:r>
            <a:endParaRPr lang="en-US" sz="3600" dirty="0"/>
          </a:p>
        </p:txBody>
      </p:sp>
      <p:sp>
        <p:nvSpPr>
          <p:cNvPr id="3" name="FaExclamationTriangle circle"/>
          <p:cNvSpPr/>
          <p:nvPr/>
        </p:nvSpPr>
        <p:spPr>
          <a:xfrm>
            <a:off x="548640" y="1463040"/>
            <a:ext cx="548640" cy="548640"/>
          </a:xfrm>
          <a:prstGeom prst="ellipse">
            <a:avLst/>
          </a:prstGeom>
          <a:solidFill>
            <a:schemeClr val="accent5"/>
          </a:solidFill>
          <a:ln/>
        </p:spPr>
        <p:txBody>
          <a:bodyPr/>
          <a:p/>
        </p:txBody>
      </p:sp>
      <p:pic>
        <p:nvPicPr>
          <p:cNvPr id="4" name="FaExclamationTriangle icon" descr="preencoded.png">    </p:cNvPr>
          <p:cNvPicPr>
            <a:picLocks noChangeAspect="1"/>
          </p:cNvPicPr>
          <p:nvPr/>
        </p:nvPicPr>
        <p:blipFill>
          <a:blip r:embed="rId1"/>
          <a:stretch>
            <a:fillRect/>
          </a:stretch>
        </p:blipFill>
        <p:spPr>
          <a:xfrm>
            <a:off x="680314" y="1594714"/>
            <a:ext cx="285293" cy="285293"/>
          </a:xfrm>
          <a:prstGeom prst="rect">
            <a:avLst/>
          </a:prstGeom>
        </p:spPr>
      </p:pic>
      <p:sp>
        <p:nvSpPr>
          <p:cNvPr id="5" name="Text 2"/>
          <p:cNvSpPr txBox="1"/>
          <p:nvPr/>
        </p:nvSpPr>
        <p:spPr>
          <a:xfrm>
            <a:off x="1280160" y="1463040"/>
            <a:ext cx="4632808" cy="548640"/>
          </a:xfrm>
          <a:prstGeom prst="rect">
            <a:avLst/>
          </a:prstGeom>
          <a:noFill/>
          <a:ln/>
        </p:spPr>
        <p:txBody>
          <a:bodyPr wrap="square" lIns="0" tIns="0" rIns="0" bIns="0" rtlCol="0" anchor="ctr"/>
          <a:lstStyle/>
          <a:p>
            <a:pPr indent="0" marL="0">
              <a:buNone/>
            </a:pPr>
            <a:r>
              <a:rPr lang="en-US" sz="2200" b="1" dirty="0">
                <a:solidFill>
                  <a:schemeClr val="tx1"/>
                </a:solidFill>
              </a:rPr>
              <a:t>Challenges</a:t>
            </a:r>
            <a:endParaRPr lang="en-US" sz="2200" dirty="0"/>
          </a:p>
        </p:txBody>
      </p:sp>
      <p:sp>
        <p:nvSpPr>
          <p:cNvPr id="6" name="Challenges 1 card"/>
          <p:cNvSpPr/>
          <p:nvPr/>
        </p:nvSpPr>
        <p:spPr>
          <a:xfrm>
            <a:off x="548640" y="2240280"/>
            <a:ext cx="5364328" cy="1143000"/>
          </a:xfrm>
          <a:prstGeom prst="roundRect">
            <a:avLst>
              <a:gd name="adj" fmla="val 9600"/>
            </a:avLst>
          </a:prstGeom>
          <a:solidFill>
            <a:schemeClr val="bg2"/>
          </a:solidFill>
          <a:ln/>
        </p:spPr>
        <p:txBody>
          <a:bodyPr/>
          <a:p/>
        </p:txBody>
      </p:sp>
      <p:sp>
        <p:nvSpPr>
          <p:cNvPr id="7" name="Challenges 1"/>
          <p:cNvSpPr txBox="1"/>
          <p:nvPr/>
        </p:nvSpPr>
        <p:spPr>
          <a:xfrm>
            <a:off x="822960" y="239572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Project startup and dependencies
→ Installed Flask/cryptography and launched the app from the project folder.</a:t>
            </a:r>
            <a:endParaRPr lang="en-US" sz="1600" dirty="0"/>
          </a:p>
        </p:txBody>
      </p:sp>
      <p:sp>
        <p:nvSpPr>
          <p:cNvPr id="8" name="Challenges 2 card"/>
          <p:cNvSpPr/>
          <p:nvPr/>
        </p:nvSpPr>
        <p:spPr>
          <a:xfrm>
            <a:off x="548640" y="3566160"/>
            <a:ext cx="5364328" cy="1143000"/>
          </a:xfrm>
          <a:prstGeom prst="roundRect">
            <a:avLst>
              <a:gd name="adj" fmla="val 9600"/>
            </a:avLst>
          </a:prstGeom>
          <a:solidFill>
            <a:schemeClr val="bg2"/>
          </a:solidFill>
          <a:ln/>
        </p:spPr>
        <p:txBody>
          <a:bodyPr/>
          <a:p/>
        </p:txBody>
      </p:sp>
      <p:sp>
        <p:nvSpPr>
          <p:cNvPr id="9" name="Challenges 2"/>
          <p:cNvSpPr txBox="1"/>
          <p:nvPr/>
        </p:nvSpPr>
        <p:spPr>
          <a:xfrm>
            <a:off x="822960" y="372160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Protecting saved credentials
→ Project design uses master-password hashing, Fernet encryption and Scrypt key derivation.</a:t>
            </a:r>
            <a:endParaRPr lang="en-US" sz="1600" dirty="0"/>
          </a:p>
        </p:txBody>
      </p:sp>
      <p:sp>
        <p:nvSpPr>
          <p:cNvPr id="10" name="Challenges 3 card"/>
          <p:cNvSpPr/>
          <p:nvPr/>
        </p:nvSpPr>
        <p:spPr>
          <a:xfrm>
            <a:off x="548640" y="4892040"/>
            <a:ext cx="5364328" cy="1143000"/>
          </a:xfrm>
          <a:prstGeom prst="roundRect">
            <a:avLst>
              <a:gd name="adj" fmla="val 9600"/>
            </a:avLst>
          </a:prstGeom>
          <a:solidFill>
            <a:schemeClr val="bg2"/>
          </a:solidFill>
          <a:ln/>
        </p:spPr>
        <p:txBody>
          <a:bodyPr/>
          <a:p/>
        </p:txBody>
      </p:sp>
      <p:sp>
        <p:nvSpPr>
          <p:cNvPr id="11" name="Challenges 3"/>
          <p:cNvSpPr txBox="1"/>
          <p:nvPr/>
        </p:nvSpPr>
        <p:spPr>
          <a:xfrm>
            <a:off x="822960" y="504748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Checking browser requests
→ Forms use configured CSRF protection; full independent security testing remains future work.</a:t>
            </a:r>
            <a:endParaRPr lang="en-US" sz="1600" dirty="0"/>
          </a:p>
        </p:txBody>
      </p:sp>
      <p:sp>
        <p:nvSpPr>
          <p:cNvPr id="12" name="FaLightbulb circle"/>
          <p:cNvSpPr/>
          <p:nvPr/>
        </p:nvSpPr>
        <p:spPr>
          <a:xfrm>
            <a:off x="6278728" y="1463040"/>
            <a:ext cx="548640" cy="548640"/>
          </a:xfrm>
          <a:prstGeom prst="ellipse">
            <a:avLst/>
          </a:prstGeom>
          <a:solidFill>
            <a:schemeClr val="accent1"/>
          </a:solidFill>
          <a:ln/>
        </p:spPr>
        <p:txBody>
          <a:bodyPr/>
          <a:p/>
        </p:txBody>
      </p:sp>
      <p:pic>
        <p:nvPicPr>
          <p:cNvPr id="13" name="FaLightbulb icon" descr="preencoded.png">    </p:cNvPr>
          <p:cNvPicPr>
            <a:picLocks noChangeAspect="1"/>
          </p:cNvPicPr>
          <p:nvPr/>
        </p:nvPicPr>
        <p:blipFill>
          <a:blip r:embed="rId2"/>
          <a:stretch>
            <a:fillRect/>
          </a:stretch>
        </p:blipFill>
        <p:spPr>
          <a:xfrm>
            <a:off x="6410401" y="1594714"/>
            <a:ext cx="285293" cy="285293"/>
          </a:xfrm>
          <a:prstGeom prst="rect">
            <a:avLst/>
          </a:prstGeom>
        </p:spPr>
      </p:pic>
      <p:sp>
        <p:nvSpPr>
          <p:cNvPr id="14" name="Text 10"/>
          <p:cNvSpPr txBox="1"/>
          <p:nvPr/>
        </p:nvSpPr>
        <p:spPr>
          <a:xfrm>
            <a:off x="7010248" y="1463040"/>
            <a:ext cx="4632808" cy="548640"/>
          </a:xfrm>
          <a:prstGeom prst="rect">
            <a:avLst/>
          </a:prstGeom>
          <a:noFill/>
          <a:ln/>
        </p:spPr>
        <p:txBody>
          <a:bodyPr wrap="square" lIns="0" tIns="0" rIns="0" bIns="0" rtlCol="0" anchor="ctr"/>
          <a:lstStyle/>
          <a:p>
            <a:pPr indent="0" marL="0">
              <a:buNone/>
            </a:pPr>
            <a:r>
              <a:rPr lang="en-US" sz="2200" b="1" dirty="0">
                <a:solidFill>
                  <a:schemeClr val="tx1"/>
                </a:solidFill>
              </a:rPr>
              <a:t>What we learnt</a:t>
            </a:r>
            <a:endParaRPr lang="en-US" sz="2200" dirty="0"/>
          </a:p>
        </p:txBody>
      </p:sp>
      <p:sp>
        <p:nvSpPr>
          <p:cNvPr id="15" name="What we learnt 1 card"/>
          <p:cNvSpPr/>
          <p:nvPr/>
        </p:nvSpPr>
        <p:spPr>
          <a:xfrm>
            <a:off x="6278728" y="2240280"/>
            <a:ext cx="5364328" cy="1143000"/>
          </a:xfrm>
          <a:prstGeom prst="roundRect">
            <a:avLst>
              <a:gd name="adj" fmla="val 9600"/>
            </a:avLst>
          </a:prstGeom>
          <a:solidFill>
            <a:schemeClr val="bg2"/>
          </a:solidFill>
          <a:ln/>
        </p:spPr>
        <p:txBody>
          <a:bodyPr/>
          <a:p/>
        </p:txBody>
      </p:sp>
      <p:sp>
        <p:nvSpPr>
          <p:cNvPr id="16" name="What we learnt 1"/>
          <p:cNvSpPr txBox="1"/>
          <p:nvPr/>
        </p:nvSpPr>
        <p:spPr>
          <a:xfrm>
            <a:off x="6553048" y="239572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Flask routes connect browser forms to Python handlers.</a:t>
            </a:r>
            <a:endParaRPr lang="en-US" sz="1600" dirty="0"/>
          </a:p>
        </p:txBody>
      </p:sp>
      <p:sp>
        <p:nvSpPr>
          <p:cNvPr id="17" name="What we learnt 2 card"/>
          <p:cNvSpPr/>
          <p:nvPr/>
        </p:nvSpPr>
        <p:spPr>
          <a:xfrm>
            <a:off x="6278728" y="3566160"/>
            <a:ext cx="5364328" cy="1143000"/>
          </a:xfrm>
          <a:prstGeom prst="roundRect">
            <a:avLst>
              <a:gd name="adj" fmla="val 9600"/>
            </a:avLst>
          </a:prstGeom>
          <a:solidFill>
            <a:schemeClr val="bg2"/>
          </a:solidFill>
          <a:ln/>
        </p:spPr>
        <p:txBody>
          <a:bodyPr/>
          <a:p/>
        </p:txBody>
      </p:sp>
      <p:sp>
        <p:nvSpPr>
          <p:cNvPr id="18" name="What we learnt 2"/>
          <p:cNvSpPr txBox="1"/>
          <p:nvPr/>
        </p:nvSpPr>
        <p:spPr>
          <a:xfrm>
            <a:off x="6553048" y="372160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Templates and CSS separate interface design from application logic.</a:t>
            </a:r>
            <a:endParaRPr lang="en-US" sz="1600" dirty="0"/>
          </a:p>
        </p:txBody>
      </p:sp>
      <p:sp>
        <p:nvSpPr>
          <p:cNvPr id="19" name="What we learnt 3 card"/>
          <p:cNvSpPr/>
          <p:nvPr/>
        </p:nvSpPr>
        <p:spPr>
          <a:xfrm>
            <a:off x="6278728" y="4892040"/>
            <a:ext cx="5364328" cy="1143000"/>
          </a:xfrm>
          <a:prstGeom prst="roundRect">
            <a:avLst>
              <a:gd name="adj" fmla="val 9600"/>
            </a:avLst>
          </a:prstGeom>
          <a:solidFill>
            <a:schemeClr val="bg2"/>
          </a:solidFill>
          <a:ln/>
        </p:spPr>
        <p:txBody>
          <a:bodyPr/>
          <a:p/>
        </p:txBody>
      </p:sp>
      <p:sp>
        <p:nvSpPr>
          <p:cNvPr id="20" name="What we learnt 3"/>
          <p:cNvSpPr txBox="1"/>
          <p:nvPr/>
        </p:nvSpPr>
        <p:spPr>
          <a:xfrm>
            <a:off x="6553048" y="5047488"/>
            <a:ext cx="4815688" cy="868680"/>
          </a:xfrm>
          <a:prstGeom prst="rect">
            <a:avLst/>
          </a:prstGeom>
          <a:noFill/>
          <a:ln/>
        </p:spPr>
        <p:txBody>
          <a:bodyPr wrap="square" lIns="64008" tIns="36576" rIns="64008" bIns="36576" rtlCol="0" anchor="ctr"/>
          <a:lstStyle/>
          <a:p>
            <a:pPr indent="0" marL="0">
              <a:buNone/>
            </a:pPr>
            <a:r>
              <a:rPr sz="1200" b="0">
                <a:solidFill>
                  <a:srgbClr val="232737"/>
                </a:solidFill>
                <a:latin typeface="Aptos"/>
              </a:rPr>
              <a:t>Automated tests and a security review should be added next.</a:t>
            </a:r>
            <a:endParaRPr lang="en-US" sz="16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Conclusion and future scope</a:t>
            </a:r>
            <a:endParaRPr lang="en-US" sz="3600" dirty="0"/>
          </a:p>
        </p:txBody>
      </p:sp>
      <p:sp>
        <p:nvSpPr>
          <p:cNvPr id="3" name="Conclusion card"/>
          <p:cNvSpPr/>
          <p:nvPr/>
        </p:nvSpPr>
        <p:spPr>
          <a:xfrm>
            <a:off x="548640" y="1463040"/>
            <a:ext cx="5852160" cy="2194560"/>
          </a:xfrm>
          <a:prstGeom prst="roundRect">
            <a:avLst>
              <a:gd name="adj" fmla="val 5000"/>
            </a:avLst>
          </a:prstGeom>
          <a:solidFill>
            <a:schemeClr val="tx1"/>
          </a:solidFill>
          <a:ln/>
        </p:spPr>
        <p:txBody>
          <a:bodyPr/>
          <a:p/>
        </p:txBody>
      </p:sp>
      <p:sp>
        <p:nvSpPr>
          <p:cNvPr id="4" name="Conclusion"/>
          <p:cNvSpPr txBox="1"/>
          <p:nvPr/>
        </p:nvSpPr>
        <p:spPr>
          <a:xfrm>
            <a:off x="868680" y="1737360"/>
            <a:ext cx="5212080" cy="1737360"/>
          </a:xfrm>
          <a:prstGeom prst="rect">
            <a:avLst/>
          </a:prstGeom>
          <a:noFill/>
          <a:ln/>
        </p:spPr>
        <p:txBody>
          <a:bodyPr wrap="square" lIns="73152" tIns="36576" rIns="73152" bIns="36576" rtlCol="0" anchor="ctr"/>
          <a:lstStyle/>
          <a:p>
            <a:pPr indent="0" marL="0">
              <a:buNone/>
            </a:pPr>
            <a:r>
              <a:rPr sz="1200" b="0">
                <a:solidFill>
                  <a:srgbClr val="232737"/>
                </a:solidFill>
                <a:latin typeface="Aptos"/>
              </a:rPr>
              <a:t>CONCLUSION
VaultX is a local Python/Flask password-manager prototype with master-password access, credential management, a random password generator, SQLite persistence and encryption-related safeguards. The available evidence confirms the Flask server runs locally; full functional and security testing remains unquantified.</a:t>
            </a:r>
            <a:endParaRPr lang="en-US" sz="1600" dirty="0"/>
          </a:p>
        </p:txBody>
      </p:sp>
      <p:sp>
        <p:nvSpPr>
          <p:cNvPr id="5" name="FaCheck circle"/>
          <p:cNvSpPr/>
          <p:nvPr/>
        </p:nvSpPr>
        <p:spPr>
          <a:xfrm>
            <a:off x="548640" y="3931920"/>
            <a:ext cx="502920" cy="502920"/>
          </a:xfrm>
          <a:prstGeom prst="ellipse">
            <a:avLst/>
          </a:prstGeom>
          <a:solidFill>
            <a:schemeClr val="accent4"/>
          </a:solidFill>
          <a:ln/>
        </p:spPr>
        <p:txBody>
          <a:bodyPr/>
          <a:p/>
        </p:txBody>
      </p:sp>
      <p:pic>
        <p:nvPicPr>
          <p:cNvPr id="6" name="FaCheck icon" descr="preencoded.png">    </p:cNvPr>
          <p:cNvPicPr>
            <a:picLocks noChangeAspect="1"/>
          </p:cNvPicPr>
          <p:nvPr/>
        </p:nvPicPr>
        <p:blipFill>
          <a:blip r:embed="rId1"/>
          <a:stretch>
            <a:fillRect/>
          </a:stretch>
        </p:blipFill>
        <p:spPr>
          <a:xfrm>
            <a:off x="669341" y="4052621"/>
            <a:ext cx="261518" cy="261518"/>
          </a:xfrm>
          <a:prstGeom prst="rect">
            <a:avLst/>
          </a:prstGeom>
        </p:spPr>
      </p:pic>
      <p:sp>
        <p:nvSpPr>
          <p:cNvPr id="7" name="Text 4"/>
          <p:cNvSpPr txBox="1"/>
          <p:nvPr/>
        </p:nvSpPr>
        <p:spPr>
          <a:xfrm>
            <a:off x="1234440" y="3931920"/>
            <a:ext cx="5166360" cy="5029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O1  Master-password access: described as implemented</a:t>
            </a:r>
            <a:endParaRPr lang="en-US" sz="1600" dirty="0"/>
          </a:p>
        </p:txBody>
      </p:sp>
      <p:sp>
        <p:nvSpPr>
          <p:cNvPr id="8" name="FaCheck circle"/>
          <p:cNvSpPr/>
          <p:nvPr/>
        </p:nvSpPr>
        <p:spPr>
          <a:xfrm>
            <a:off x="548640" y="4480560"/>
            <a:ext cx="502920" cy="502920"/>
          </a:xfrm>
          <a:prstGeom prst="ellipse">
            <a:avLst/>
          </a:prstGeom>
          <a:solidFill>
            <a:schemeClr val="accent4"/>
          </a:solidFill>
          <a:ln/>
        </p:spPr>
        <p:txBody>
          <a:bodyPr/>
          <a:p/>
        </p:txBody>
      </p:sp>
      <p:pic>
        <p:nvPicPr>
          <p:cNvPr id="9" name="FaCheck icon" descr="preencoded.png">    </p:cNvPr>
          <p:cNvPicPr>
            <a:picLocks noChangeAspect="1"/>
          </p:cNvPicPr>
          <p:nvPr/>
        </p:nvPicPr>
        <p:blipFill>
          <a:blip r:embed="rId2"/>
          <a:stretch>
            <a:fillRect/>
          </a:stretch>
        </p:blipFill>
        <p:spPr>
          <a:xfrm>
            <a:off x="669341" y="4601261"/>
            <a:ext cx="261518" cy="261518"/>
          </a:xfrm>
          <a:prstGeom prst="rect">
            <a:avLst/>
          </a:prstGeom>
        </p:spPr>
      </p:pic>
      <p:sp>
        <p:nvSpPr>
          <p:cNvPr id="10" name="Text 6"/>
          <p:cNvSpPr txBox="1"/>
          <p:nvPr/>
        </p:nvSpPr>
        <p:spPr>
          <a:xfrm>
            <a:off x="1234440" y="4480560"/>
            <a:ext cx="5166360" cy="5029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O2  Credential management: described as implemented</a:t>
            </a:r>
            <a:endParaRPr lang="en-US" sz="1600" dirty="0"/>
          </a:p>
        </p:txBody>
      </p:sp>
      <p:sp>
        <p:nvSpPr>
          <p:cNvPr id="11" name="FaCheck circle"/>
          <p:cNvSpPr/>
          <p:nvPr/>
        </p:nvSpPr>
        <p:spPr>
          <a:xfrm>
            <a:off x="548640" y="5029200"/>
            <a:ext cx="502920" cy="502920"/>
          </a:xfrm>
          <a:prstGeom prst="ellipse">
            <a:avLst/>
          </a:prstGeom>
          <a:solidFill>
            <a:schemeClr val="accent4"/>
          </a:solidFill>
          <a:ln/>
        </p:spPr>
        <p:txBody>
          <a:bodyPr/>
          <a:p/>
        </p:txBody>
      </p:sp>
      <p:pic>
        <p:nvPicPr>
          <p:cNvPr id="12" name="FaCheck icon" descr="preencoded.png">    </p:cNvPr>
          <p:cNvPicPr>
            <a:picLocks noChangeAspect="1"/>
          </p:cNvPicPr>
          <p:nvPr/>
        </p:nvPicPr>
        <p:blipFill>
          <a:blip r:embed="rId3"/>
          <a:stretch>
            <a:fillRect/>
          </a:stretch>
        </p:blipFill>
        <p:spPr>
          <a:xfrm>
            <a:off x="669341" y="5149901"/>
            <a:ext cx="261518" cy="261518"/>
          </a:xfrm>
          <a:prstGeom prst="rect">
            <a:avLst/>
          </a:prstGeom>
        </p:spPr>
      </p:pic>
      <p:sp>
        <p:nvSpPr>
          <p:cNvPr id="13" name="Text 8"/>
          <p:cNvSpPr txBox="1"/>
          <p:nvPr/>
        </p:nvSpPr>
        <p:spPr>
          <a:xfrm>
            <a:off x="1234440" y="5029200"/>
            <a:ext cx="5166360" cy="5029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O3  Password generation: described as implemented</a:t>
            </a:r>
            <a:endParaRPr lang="en-US" sz="1600" dirty="0"/>
          </a:p>
        </p:txBody>
      </p:sp>
      <p:sp>
        <p:nvSpPr>
          <p:cNvPr id="14" name="FaCheck circle"/>
          <p:cNvSpPr/>
          <p:nvPr/>
        </p:nvSpPr>
        <p:spPr>
          <a:xfrm>
            <a:off x="548640" y="5577840"/>
            <a:ext cx="502920" cy="502920"/>
          </a:xfrm>
          <a:prstGeom prst="ellipse">
            <a:avLst/>
          </a:prstGeom>
          <a:solidFill>
            <a:schemeClr val="accent4"/>
          </a:solidFill>
          <a:ln/>
        </p:spPr>
        <p:txBody>
          <a:bodyPr/>
          <a:p/>
        </p:txBody>
      </p:sp>
      <p:pic>
        <p:nvPicPr>
          <p:cNvPr id="15" name="FaCheck icon" descr="preencoded.png">    </p:cNvPr>
          <p:cNvPicPr>
            <a:picLocks noChangeAspect="1"/>
          </p:cNvPicPr>
          <p:nvPr/>
        </p:nvPicPr>
        <p:blipFill>
          <a:blip r:embed="rId4"/>
          <a:stretch>
            <a:fillRect/>
          </a:stretch>
        </p:blipFill>
        <p:spPr>
          <a:xfrm>
            <a:off x="669341" y="5698541"/>
            <a:ext cx="261518" cy="261518"/>
          </a:xfrm>
          <a:prstGeom prst="rect">
            <a:avLst/>
          </a:prstGeom>
        </p:spPr>
      </p:pic>
      <p:sp>
        <p:nvSpPr>
          <p:cNvPr id="16" name="Text 10"/>
          <p:cNvSpPr txBox="1"/>
          <p:nvPr/>
        </p:nvSpPr>
        <p:spPr>
          <a:xfrm>
            <a:off x="1234440" y="5577840"/>
            <a:ext cx="5166360" cy="502920"/>
          </a:xfrm>
          <a:prstGeom prst="rect">
            <a:avLst/>
          </a:prstGeom>
          <a:noFill/>
          <a:ln/>
        </p:spPr>
        <p:txBody>
          <a:bodyPr wrap="square" lIns="64008" tIns="36576" rIns="64008" bIns="36576" rtlCol="0" anchor="ctr"/>
          <a:lstStyle/>
          <a:p>
            <a:pPr indent="0" marL="0">
              <a:buNone/>
            </a:pPr>
            <a:r>
              <a:rPr sz="1100" b="0">
                <a:solidFill>
                  <a:srgbClr val="232737"/>
                </a:solidFill>
                <a:latin typeface="Aptos"/>
              </a:rPr>
              <a:t>O4  Encrypted local storage: described as implemented</a:t>
            </a:r>
            <a:endParaRPr lang="en-US" sz="1600" dirty="0"/>
          </a:p>
        </p:txBody>
      </p:sp>
      <p:sp>
        <p:nvSpPr>
          <p:cNvPr id="17" name="Future scope card"/>
          <p:cNvSpPr/>
          <p:nvPr/>
        </p:nvSpPr>
        <p:spPr>
          <a:xfrm>
            <a:off x="6858000" y="1463040"/>
            <a:ext cx="4785055" cy="4663440"/>
          </a:xfrm>
          <a:prstGeom prst="roundRect">
            <a:avLst>
              <a:gd name="adj" fmla="val 2353"/>
            </a:avLst>
          </a:prstGeom>
          <a:solidFill>
            <a:schemeClr val="bg2"/>
          </a:solidFill>
          <a:ln/>
        </p:spPr>
        <p:txBody>
          <a:bodyPr/>
          <a:p/>
        </p:txBody>
      </p:sp>
      <p:sp>
        <p:nvSpPr>
          <p:cNvPr id="18" name="FaRocket circle"/>
          <p:cNvSpPr/>
          <p:nvPr/>
        </p:nvSpPr>
        <p:spPr>
          <a:xfrm>
            <a:off x="7178040" y="1783080"/>
            <a:ext cx="640080" cy="640080"/>
          </a:xfrm>
          <a:prstGeom prst="ellipse">
            <a:avLst/>
          </a:prstGeom>
          <a:solidFill>
            <a:schemeClr val="accent1"/>
          </a:solidFill>
          <a:ln/>
        </p:spPr>
        <p:txBody>
          <a:bodyPr/>
          <a:p/>
        </p:txBody>
      </p:sp>
      <p:pic>
        <p:nvPicPr>
          <p:cNvPr id="19" name="FaRocket icon" descr="preencoded.png">    </p:cNvPr>
          <p:cNvPicPr>
            <a:picLocks noChangeAspect="1"/>
          </p:cNvPicPr>
          <p:nvPr/>
        </p:nvPicPr>
        <p:blipFill>
          <a:blip r:embed="rId5"/>
          <a:stretch>
            <a:fillRect/>
          </a:stretch>
        </p:blipFill>
        <p:spPr>
          <a:xfrm>
            <a:off x="7331659" y="1936699"/>
            <a:ext cx="332842" cy="332842"/>
          </a:xfrm>
          <a:prstGeom prst="rect">
            <a:avLst/>
          </a:prstGeom>
        </p:spPr>
      </p:pic>
      <p:sp>
        <p:nvSpPr>
          <p:cNvPr id="20" name="Text 13"/>
          <p:cNvSpPr txBox="1"/>
          <p:nvPr/>
        </p:nvSpPr>
        <p:spPr>
          <a:xfrm>
            <a:off x="8001000" y="1783080"/>
            <a:ext cx="3413455" cy="640080"/>
          </a:xfrm>
          <a:prstGeom prst="rect">
            <a:avLst/>
          </a:prstGeom>
          <a:noFill/>
          <a:ln/>
        </p:spPr>
        <p:txBody>
          <a:bodyPr wrap="square" lIns="0" tIns="0" rIns="0" bIns="0" rtlCol="0" anchor="ctr"/>
          <a:lstStyle/>
          <a:p>
            <a:pPr indent="0" marL="0">
              <a:buNone/>
            </a:pPr>
            <a:r>
              <a:rPr lang="en-US" sz="2200" b="1" dirty="0">
                <a:solidFill>
                  <a:schemeClr val="tx1"/>
                </a:solidFill>
              </a:rPr>
              <a:t>Future scope</a:t>
            </a:r>
            <a:endParaRPr lang="en-US" sz="2200" dirty="0"/>
          </a:p>
        </p:txBody>
      </p:sp>
      <p:sp>
        <p:nvSpPr>
          <p:cNvPr id="21" name="Number 1"/>
          <p:cNvSpPr txBox="1"/>
          <p:nvPr/>
        </p:nvSpPr>
        <p:spPr>
          <a:xfrm>
            <a:off x="7178040" y="274320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2" name="Text 15"/>
          <p:cNvSpPr txBox="1"/>
          <p:nvPr/>
        </p:nvSpPr>
        <p:spPr>
          <a:xfrm>
            <a:off x="7863840" y="2697480"/>
            <a:ext cx="3504895" cy="8686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Add automated unit and integration tests.</a:t>
            </a:r>
            <a:endParaRPr lang="en-US" sz="1800" dirty="0"/>
          </a:p>
        </p:txBody>
      </p:sp>
      <p:sp>
        <p:nvSpPr>
          <p:cNvPr id="23" name="Number 2"/>
          <p:cNvSpPr txBox="1"/>
          <p:nvPr/>
        </p:nvSpPr>
        <p:spPr>
          <a:xfrm>
            <a:off x="7178040" y="379476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4" name="Text 17"/>
          <p:cNvSpPr txBox="1"/>
          <p:nvPr/>
        </p:nvSpPr>
        <p:spPr>
          <a:xfrm>
            <a:off x="7863840" y="3749040"/>
            <a:ext cx="3504895" cy="8686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Review key storage, session settings and threat model.</a:t>
            </a:r>
            <a:endParaRPr lang="en-US" sz="1800" dirty="0"/>
          </a:p>
        </p:txBody>
      </p:sp>
      <p:sp>
        <p:nvSpPr>
          <p:cNvPr id="25" name="Number 3"/>
          <p:cNvSpPr txBox="1"/>
          <p:nvPr/>
        </p:nvSpPr>
        <p:spPr>
          <a:xfrm>
            <a:off x="7178040" y="484632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6" name="Text 19"/>
          <p:cNvSpPr txBox="1"/>
          <p:nvPr/>
        </p:nvSpPr>
        <p:spPr>
          <a:xfrm>
            <a:off x="7863840" y="4800600"/>
            <a:ext cx="3504895" cy="868680"/>
          </a:xfrm>
          <a:prstGeom prst="rect">
            <a:avLst/>
          </a:prstGeom>
          <a:noFill/>
          <a:ln/>
        </p:spPr>
        <p:txBody>
          <a:bodyPr wrap="square" lIns="73152" tIns="36576" rIns="73152" bIns="36576" rtlCol="0" anchor="ctr"/>
          <a:lstStyle/>
          <a:p>
            <a:pPr indent="0" marL="0">
              <a:buNone/>
            </a:pPr>
            <a:r>
              <a:rPr sz="1200" b="0">
                <a:solidFill>
                  <a:srgbClr val="232737"/>
                </a:solidFill>
                <a:latin typeface="Aptos"/>
              </a:rPr>
              <a:t>Add encrypted backup and recovery design.</a:t>
            </a:r>
            <a:endParaRPr lang="en-US" sz="18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822960"/>
          </a:xfrm>
          <a:prstGeom prst="rect">
            <a:avLst/>
          </a:prstGeom>
          <a:noFill/>
          <a:ln/>
        </p:spPr>
        <p:txBody>
          <a:bodyPr wrap="square" lIns="0" tIns="0" rIns="0" bIns="0" rtlCol="0" anchor="ctr"/>
          <a:lstStyle/>
          <a:p>
            <a:pPr algn="l" indent="0" marL="0">
              <a:buNone/>
            </a:pPr>
            <a:r>
              <a:rPr lang="en-US" sz="3600" b="1" dirty="0">
                <a:solidFill>
                  <a:schemeClr val="tx1"/>
                </a:solidFill>
              </a:rPr>
              <a:t>References</a:t>
            </a:r>
            <a:endParaRPr lang="en-US" sz="3600" dirty="0"/>
          </a:p>
        </p:txBody>
      </p:sp>
      <p:sp>
        <p:nvSpPr>
          <p:cNvPr id="3" name="Text 1"/>
          <p:cNvSpPr/>
          <p:nvPr>
            <p:ph idx="103" type="body" hasCustomPrompt="1"/>
          </p:nvPr>
        </p:nvSpPr>
        <p:spPr>
          <a:xfrm>
            <a:off x="548640" y="1463040"/>
            <a:ext cx="11094415" cy="4663440"/>
          </a:xfrm>
          <a:prstGeom prst="rect">
            <a:avLst/>
          </a:prstGeom>
          <a:noFill/>
          <a:ln/>
        </p:spPr>
        <p:txBody>
          <a:bodyPr wrap="square" lIns="64008" tIns="36576" rIns="64008" bIns="36576" rtlCol="0" anchor="ctr"/>
          <a:lstStyle/>
          <a:p>
            <a:pPr algn="l" indent="0" marL="0">
              <a:spcAft>
                <a:spcPts val="1400"/>
              </a:spcAft>
              <a:buNone/>
            </a:pPr>
            <a:r>
              <a:rPr sz="1400" b="0">
                <a:solidFill>
                  <a:srgbClr val="232737"/>
                </a:solidFill>
                <a:latin typeface="Aptos"/>
              </a:rPr>
              <a:t>[1] Python Documentation — https://docs.python.org/3/
[2] Flask Documentation — https://flask.palletsprojects.com/
[3] SQLite Documentation — https://docs.python.org/3/library/sqlite3.html
[4] Cryptography Documentation — https://cryptography.io/</a:t>
            </a:r>
            <a:endParaRPr lang="en-US" sz="1800" dirty="0"/>
          </a:p>
        </p:txBody>
      </p:sp>
      <p:sp>
        <p:nvSpPr>
          <p:cNvPr id="25" name="Slide Number Placeholder 0"/>
          <p:cNvSpPr>
            <a:spLocks noGrp="1"/>
          </p:cNvSpPr>
          <p:nvPr>
            <p:ph type="sldNum" sz="quarter" idx="4294967295"/>
          </p:nvPr>
        </p:nvSpPr>
        <p:spPr>
          <a:xfrm>
            <a:off x="10911535" y="6355080"/>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011680"/>
            <a:ext cx="11094415" cy="1188720"/>
          </a:xfrm>
          <a:prstGeom prst="rect">
            <a:avLst/>
          </a:prstGeom>
          <a:noFill/>
          <a:ln/>
        </p:spPr>
        <p:txBody>
          <a:bodyPr wrap="square" lIns="0" tIns="0" rIns="0" bIns="0" rtlCol="0" anchor="ctr"/>
          <a:lstStyle/>
          <a:p>
            <a:pPr algn="ctr" indent="0" marL="0">
              <a:buNone/>
            </a:pPr>
            <a:r>
              <a:rPr lang="en-US" sz="6000" b="1" dirty="0">
                <a:solidFill>
                  <a:schemeClr val="bg1"/>
                </a:solidFill>
              </a:rPr>
              <a:t>Thank you</a:t>
            </a:r>
            <a:endParaRPr lang="en-US" sz="6000" dirty="0"/>
          </a:p>
        </p:txBody>
      </p:sp>
      <p:sp>
        <p:nvSpPr>
          <p:cNvPr id="3" name="Text 1"/>
          <p:cNvSpPr/>
          <p:nvPr>
            <p:ph idx="103" type="body" hasCustomPrompt="1"/>
          </p:nvPr>
        </p:nvSpPr>
        <p:spPr>
          <a:xfrm>
            <a:off x="548640" y="3246120"/>
            <a:ext cx="11094415" cy="731520"/>
          </a:xfrm>
          <a:prstGeom prst="rect">
            <a:avLst/>
          </a:prstGeom>
          <a:noFill/>
          <a:ln/>
        </p:spPr>
        <p:txBody>
          <a:bodyPr wrap="square" lIns="0" tIns="0" rIns="0" bIns="0" rtlCol="0" anchor="t"/>
          <a:lstStyle/>
          <a:p>
            <a:pPr algn="ctr" indent="0" marL="0">
              <a:buNone/>
            </a:pPr>
            <a:r>
              <a:rPr lang="en-US" sz="2800" dirty="0">
                <a:solidFill>
                  <a:schemeClr val="accent2"/>
                </a:solidFill>
              </a:rPr>
              <a:t>Questions?</a:t>
            </a:r>
            <a:endParaRPr lang="en-US" sz="2800" dirty="0"/>
          </a:p>
        </p:txBody>
      </p:sp>
      <p:sp>
        <p:nvSpPr>
          <p:cNvPr id="4" name="Team and link"/>
          <p:cNvSpPr txBox="1"/>
          <p:nvPr/>
        </p:nvSpPr>
        <p:spPr>
          <a:xfrm>
            <a:off x="548640" y="4480560"/>
            <a:ext cx="11094415" cy="914400"/>
          </a:xfrm>
          <a:prstGeom prst="rect">
            <a:avLst/>
          </a:prstGeom>
          <a:noFill/>
          <a:ln/>
        </p:spPr>
        <p:txBody>
          <a:bodyPr wrap="square" lIns="73152" tIns="36576" rIns="73152" bIns="36576" rtlCol="0" anchor="ctr"/>
          <a:lstStyle/>
          <a:p>
            <a:pPr algn="ctr" indent="0" marL="0">
              <a:buNone/>
            </a:pPr>
            <a:r>
              <a:rPr sz="1500" b="0">
                <a:solidFill>
                  <a:srgbClr val="232737"/>
                </a:solidFill>
                <a:latin typeface="Aptos"/>
              </a:rPr>
              <a:t>Ronak Singh
Code: github.com/messi847383-source/vaultx-Password-Manager</a:t>
            </a:r>
            <a:endParaRPr lang="en-US" sz="1600" dirty="0"/>
          </a:p>
        </p:txBody>
      </p:sp>
    </p:spTree>
  </p:cSld>
  <p:clrMapOvr>
    <a:masterClrMapping/>
  </p:clrMapOvr>
</p:sld>
</file>

<file path=ppt/theme/theme1.xml><?xml version="1.0" encoding="utf-8"?>
<a:theme xmlns:a="http://schemas.openxmlformats.org/drawingml/2006/main" name="BTCS2101 Mini Project">
  <a:themeElements>
    <a:clrScheme name="BTCS2101 Mini Project">
      <a:dk1>
        <a:srgbClr val="1E2235"/>
      </a:dk1>
      <a:lt1>
        <a:srgbClr val="FFFFFF"/>
      </a:lt1>
      <a:dk2>
        <a:srgbClr val="2B3A67"/>
      </a:dk2>
      <a:lt2>
        <a:srgbClr val="EEF3FA"/>
      </a:lt2>
      <a:accent1>
        <a:srgbClr val="3776AB"/>
      </a:accent1>
      <a:accent2>
        <a:srgbClr val="FFD43B"/>
      </a:accent2>
      <a:accent3>
        <a:srgbClr val="A9C4E8"/>
      </a:accent3>
      <a:accent4>
        <a:srgbClr val="2E8B57"/>
      </a:accent4>
      <a:accent5>
        <a:srgbClr val="C8553D"/>
      </a:accent5>
      <a:accent6>
        <a:srgbClr val="5F6B85"/>
      </a:accent6>
      <a:hlink>
        <a:srgbClr val="3776AB"/>
      </a:hlink>
      <a:folHlink>
        <a:srgbClr val="6B4C9A"/>
      </a:folHlink>
    </a:clrScheme>
    <a:fontScheme name="BTCS2101 Mini Projec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Assam down town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with Python (BTCS2101) - Mini Project presentation format</dc:title>
  <dc:subject>Presentation format for the mini project (Presentation component)</dc:subject>
  <dc:creator>Priya Raj Chanda</dc:creator>
  <cp:lastModifiedBy>Priya Raj Chanda</cp:lastModifiedBy>
  <cp:revision>1</cp:revision>
  <dcterms:created xsi:type="dcterms:W3CDTF">2026-10-07T07:24:15Z</dcterms:created>
  <dcterms:modified xsi:type="dcterms:W3CDTF">2026-10-07T07:24:15Z</dcterms:modified>
</cp:coreProperties>
</file>